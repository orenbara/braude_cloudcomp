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0"/>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x="18288000" cy="10287000"/>
  <p:notesSz cx="6858000" cy="9144000"/>
  <p:embeddedFontLst>
    <p:embeddedFont>
      <p:font typeface="Fredoka" charset="1" panose="02000000000000000000"/>
      <p:regular r:id="rId27"/>
    </p:embeddedFont>
    <p:embeddedFont>
      <p:font typeface="Nunito" charset="1" panose="00000500000000000000"/>
      <p:regular r:id="rId28"/>
    </p:embeddedFont>
    <p:embeddedFont>
      <p:font typeface="Nunito Bold" charset="1" panose="0000080000000000000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notesMasters/notesMaster1.xml" Type="http://schemas.openxmlformats.org/officeDocument/2006/relationships/notesMaster"/><Relationship Id="rId31" Target="theme/theme2.xml" Type="http://schemas.openxmlformats.org/officeDocument/2006/relationships/theme"/><Relationship Id="rId32" Target="notesSlides/notesSlide1.xml" Type="http://schemas.openxmlformats.org/officeDocument/2006/relationships/notesSlide"/><Relationship Id="rId33" Target="notesSlides/notesSlide2.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notesSlide1.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אז שלבי האינטגרציה שלנו כללו:</a:t>
            </a:r>
          </a:p>
          <a:p>
            <a:r>
              <a:rPr lang="en-US"/>
              <a:t>קובץ JSON שניתן לנו על ידכם והועלו לGOOGLE DRIVE </a:t>
            </a:r>
          </a:p>
          <a:p>
            <a:r>
              <a:rPr lang="en-US"/>
              <a:t/>
            </a:r>
          </a:p>
          <a:p>
            <a:r>
              <a:rPr lang="en-US"/>
              <a:t>העלת קובץ הJSON לתוך הDB שבFIREBASE </a:t>
            </a:r>
          </a:p>
          <a:p>
            <a:r>
              <a:rPr lang="en-US"/>
              <a:t/>
            </a:r>
          </a:p>
          <a:p>
            <a:r>
              <a:rPr lang="en-US"/>
              <a:t>כל שורה בקובץ הJSON הועלתה לDB שנוכל לעשות שימוש במידע הזה בקוד</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notesSlides/notesSlide2.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האתגרים שאיתם התמודדנו במהלך הפרויקט:</a:t>
            </a:r>
          </a:p>
          <a:p>
            <a:r>
              <a:rPr lang="en-US"/>
              <a:t/>
            </a:r>
          </a:p>
          <a:p>
            <a:r>
              <a:rPr lang="en-US"/>
              <a:t>1. מבחנית עבודה בגוגל קולאב לי באופן אישי זה בין הפעמים היחידות שיצא לי לעבוד איתו ובגלל שזה קובץ שהוא משותף כל אחד יכול לעשות בו שינויים מתי שבא לו, כלומר זה לא כמו גיט שהוא קצת יותר מסודר אלא משהו שהוא נורא "פתוח".</a:t>
            </a:r>
          </a:p>
          <a:p>
            <a:r>
              <a:rPr lang="en-US"/>
              <a:t/>
            </a:r>
          </a:p>
          <a:p>
            <a:r>
              <a:rPr lang="en-US"/>
              <a:t>2.אז שוב העבודה בגוגלקולאב והWIDGET וכל האינטגרציה של הHTML שם זה משהו שנתקלנו בו פעם ראשונה ולקח לנו קצת זמן להבין מי נגד מי ואיך דברים בדיוק עובדים</a:t>
            </a:r>
          </a:p>
          <a:p>
            <a:r>
              <a:rPr lang="en-US"/>
              <a:t/>
            </a:r>
          </a:p>
          <a:p>
            <a:r>
              <a:rPr lang="en-US"/>
              <a:t>3. אז גם מבחינת DEBUGGING ומה שקורה עם הDB. אחת הבעיות שהיו לנו היא איזשהי בעיה בתוך הDB שהקריסה לנו את הקוד והיה לנו מאוד קשה לדבג אותה בממשק של הGOOGLE COLAB ולהבין מה הגורם לה אז זה באמת אחד הקשיים שנתקלנו בהם במהלך הפרויקט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2.png" Type="http://schemas.openxmlformats.org/officeDocument/2006/relationships/image"/><Relationship Id="rId9" Target="../media/image1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5.png" Type="http://schemas.openxmlformats.org/officeDocument/2006/relationships/image"/><Relationship Id="rId9" Target="../media/image1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png" Type="http://schemas.openxmlformats.org/officeDocument/2006/relationships/image"/><Relationship Id="rId11" Target="../media/image21.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8.png" Type="http://schemas.openxmlformats.org/officeDocument/2006/relationships/image"/><Relationship Id="rId9" Target="../media/image1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2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2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24.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25.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VAGNoj2SeLc.mp4" Type="http://schemas.microsoft.com/office/2007/relationships/media"/><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26.jpeg" Type="http://schemas.openxmlformats.org/officeDocument/2006/relationships/image"/><Relationship Id="rId9" Target="../media/VAGNoj2SeLc.mp4" Type="http://schemas.openxmlformats.org/officeDocument/2006/relationships/video"/></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41290" y="0"/>
            <a:ext cx="20507325" cy="10287000"/>
            <a:chOff x="0" y="0"/>
            <a:chExt cx="27343100" cy="13716000"/>
          </a:xfrm>
        </p:grpSpPr>
        <p:sp>
          <p:nvSpPr>
            <p:cNvPr name="Freeform 3" id="3"/>
            <p:cNvSpPr/>
            <p:nvPr/>
          </p:nvSpPr>
          <p:spPr>
            <a:xfrm flipH="false" flipV="false" rot="0">
              <a:off x="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62710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576611" y="8353252"/>
            <a:ext cx="19974273" cy="1420979"/>
            <a:chOff x="0" y="0"/>
            <a:chExt cx="5260714" cy="374250"/>
          </a:xfrm>
        </p:grpSpPr>
        <p:sp>
          <p:nvSpPr>
            <p:cNvPr name="Freeform 6" id="6"/>
            <p:cNvSpPr/>
            <p:nvPr/>
          </p:nvSpPr>
          <p:spPr>
            <a:xfrm flipH="false" flipV="false" rot="0">
              <a:off x="0" y="0"/>
              <a:ext cx="5260714" cy="374250"/>
            </a:xfrm>
            <a:custGeom>
              <a:avLst/>
              <a:gdLst/>
              <a:ahLst/>
              <a:cxnLst/>
              <a:rect r="r" b="b" t="t" l="l"/>
              <a:pathLst>
                <a:path h="374250" w="5260714">
                  <a:moveTo>
                    <a:pt x="0" y="0"/>
                  </a:moveTo>
                  <a:lnTo>
                    <a:pt x="5260714" y="0"/>
                  </a:lnTo>
                  <a:lnTo>
                    <a:pt x="5260714" y="374250"/>
                  </a:lnTo>
                  <a:lnTo>
                    <a:pt x="0" y="374250"/>
                  </a:lnTo>
                  <a:close/>
                </a:path>
              </a:pathLst>
            </a:custGeom>
            <a:solidFill>
              <a:srgbClr val="F1F2F2"/>
            </a:solidFill>
          </p:spPr>
        </p:sp>
        <p:sp>
          <p:nvSpPr>
            <p:cNvPr name="TextBox 7" id="7"/>
            <p:cNvSpPr txBox="true"/>
            <p:nvPr/>
          </p:nvSpPr>
          <p:spPr>
            <a:xfrm>
              <a:off x="0" y="-38100"/>
              <a:ext cx="5260714" cy="41235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2116949" y="1896628"/>
            <a:ext cx="2942276" cy="2942276"/>
          </a:xfrm>
          <a:custGeom>
            <a:avLst/>
            <a:gdLst/>
            <a:ahLst/>
            <a:cxnLst/>
            <a:rect r="r" b="b" t="t" l="l"/>
            <a:pathLst>
              <a:path h="2942276" w="2942276">
                <a:moveTo>
                  <a:pt x="0" y="0"/>
                </a:moveTo>
                <a:lnTo>
                  <a:pt x="2942276" y="0"/>
                </a:lnTo>
                <a:lnTo>
                  <a:pt x="2942276" y="2942276"/>
                </a:lnTo>
                <a:lnTo>
                  <a:pt x="0" y="29422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2399945" y="6010601"/>
            <a:ext cx="3395204" cy="1049427"/>
          </a:xfrm>
          <a:custGeom>
            <a:avLst/>
            <a:gdLst/>
            <a:ahLst/>
            <a:cxnLst/>
            <a:rect r="r" b="b" t="t" l="l"/>
            <a:pathLst>
              <a:path h="1049427" w="3395204">
                <a:moveTo>
                  <a:pt x="0" y="0"/>
                </a:moveTo>
                <a:lnTo>
                  <a:pt x="3395204" y="0"/>
                </a:lnTo>
                <a:lnTo>
                  <a:pt x="3395204" y="1049427"/>
                </a:lnTo>
                <a:lnTo>
                  <a:pt x="0" y="104942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0" id="10"/>
          <p:cNvSpPr txBox="true"/>
          <p:nvPr/>
        </p:nvSpPr>
        <p:spPr>
          <a:xfrm rot="0">
            <a:off x="1668631" y="2924194"/>
            <a:ext cx="14950738" cy="3641853"/>
          </a:xfrm>
          <a:prstGeom prst="rect">
            <a:avLst/>
          </a:prstGeom>
        </p:spPr>
        <p:txBody>
          <a:bodyPr anchor="t" rtlCol="false" tIns="0" lIns="0" bIns="0" rIns="0">
            <a:spAutoFit/>
          </a:bodyPr>
          <a:lstStyle/>
          <a:p>
            <a:pPr algn="ctr">
              <a:lnSpc>
                <a:spcPts val="14620"/>
              </a:lnSpc>
            </a:pPr>
            <a:r>
              <a:rPr lang="en-US" sz="10443">
                <a:solidFill>
                  <a:srgbClr val="000000"/>
                </a:solidFill>
                <a:latin typeface="Fredoka"/>
                <a:ea typeface="Fredoka"/>
                <a:cs typeface="Fredoka"/>
                <a:sym typeface="Fredoka"/>
              </a:rPr>
              <a:t>CHAMELEON GROUP PROJECT</a:t>
            </a:r>
          </a:p>
        </p:txBody>
      </p:sp>
      <p:sp>
        <p:nvSpPr>
          <p:cNvPr name="TextBox 11" id="11"/>
          <p:cNvSpPr txBox="true"/>
          <p:nvPr/>
        </p:nvSpPr>
        <p:spPr>
          <a:xfrm rot="0">
            <a:off x="1028700" y="8743950"/>
            <a:ext cx="5577893" cy="514251"/>
          </a:xfrm>
          <a:prstGeom prst="rect">
            <a:avLst/>
          </a:prstGeom>
        </p:spPr>
        <p:txBody>
          <a:bodyPr anchor="t" rtlCol="false" tIns="0" lIns="0" bIns="0" rIns="0">
            <a:spAutoFit/>
          </a:bodyPr>
          <a:lstStyle/>
          <a:p>
            <a:pPr algn="l">
              <a:lnSpc>
                <a:spcPts val="4200"/>
              </a:lnSpc>
            </a:pPr>
            <a:r>
              <a:rPr lang="en-US" sz="3000">
                <a:solidFill>
                  <a:srgbClr val="000000"/>
                </a:solidFill>
                <a:latin typeface="Nunito"/>
                <a:ea typeface="Nunito"/>
                <a:cs typeface="Nunito"/>
                <a:sym typeface="Nunito"/>
              </a:rPr>
              <a:t>Cloud Computing</a:t>
            </a:r>
          </a:p>
        </p:txBody>
      </p:sp>
      <p:sp>
        <p:nvSpPr>
          <p:cNvPr name="TextBox 12" id="12"/>
          <p:cNvSpPr txBox="true"/>
          <p:nvPr/>
        </p:nvSpPr>
        <p:spPr>
          <a:xfrm rot="0">
            <a:off x="12777754" y="8743950"/>
            <a:ext cx="4481546" cy="514251"/>
          </a:xfrm>
          <a:prstGeom prst="rect">
            <a:avLst/>
          </a:prstGeom>
        </p:spPr>
        <p:txBody>
          <a:bodyPr anchor="t" rtlCol="false" tIns="0" lIns="0" bIns="0" rIns="0">
            <a:spAutoFit/>
          </a:bodyPr>
          <a:lstStyle/>
          <a:p>
            <a:pPr algn="r">
              <a:lnSpc>
                <a:spcPts val="4200"/>
              </a:lnSpc>
            </a:pPr>
            <a:r>
              <a:rPr lang="en-US" sz="3000">
                <a:solidFill>
                  <a:srgbClr val="000000"/>
                </a:solidFill>
                <a:latin typeface="Nunito"/>
                <a:ea typeface="Nunito"/>
                <a:cs typeface="Nunito"/>
                <a:sym typeface="Nunito"/>
              </a:rPr>
              <a:t>Braude Acadmeic College</a:t>
            </a:r>
          </a:p>
        </p:txBody>
      </p:sp>
      <p:sp>
        <p:nvSpPr>
          <p:cNvPr name="Freeform 13" id="13"/>
          <p:cNvSpPr/>
          <p:nvPr/>
        </p:nvSpPr>
        <p:spPr>
          <a:xfrm flipH="false" flipV="false" rot="0">
            <a:off x="17216912" y="-911620"/>
            <a:ext cx="2942276" cy="2942276"/>
          </a:xfrm>
          <a:custGeom>
            <a:avLst/>
            <a:gdLst/>
            <a:ahLst/>
            <a:cxnLst/>
            <a:rect r="r" b="b" t="t" l="l"/>
            <a:pathLst>
              <a:path h="2942276" w="2942276">
                <a:moveTo>
                  <a:pt x="0" y="0"/>
                </a:moveTo>
                <a:lnTo>
                  <a:pt x="2942276" y="0"/>
                </a:lnTo>
                <a:lnTo>
                  <a:pt x="2942276" y="2942276"/>
                </a:lnTo>
                <a:lnTo>
                  <a:pt x="0" y="29422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09662" y="0"/>
            <a:ext cx="20507325" cy="10287000"/>
            <a:chOff x="0" y="0"/>
            <a:chExt cx="27343100" cy="13716000"/>
          </a:xfrm>
        </p:grpSpPr>
        <p:sp>
          <p:nvSpPr>
            <p:cNvPr name="Freeform 3" id="3"/>
            <p:cNvSpPr/>
            <p:nvPr/>
          </p:nvSpPr>
          <p:spPr>
            <a:xfrm flipH="false" flipV="false" rot="0">
              <a:off x="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62710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1028700" y="1505943"/>
            <a:ext cx="16230600" cy="6526651"/>
            <a:chOff x="0" y="0"/>
            <a:chExt cx="4274726" cy="1718953"/>
          </a:xfrm>
        </p:grpSpPr>
        <p:sp>
          <p:nvSpPr>
            <p:cNvPr name="Freeform 6" id="6"/>
            <p:cNvSpPr/>
            <p:nvPr/>
          </p:nvSpPr>
          <p:spPr>
            <a:xfrm flipH="false" flipV="false" rot="0">
              <a:off x="0" y="0"/>
              <a:ext cx="4274726" cy="1718953"/>
            </a:xfrm>
            <a:custGeom>
              <a:avLst/>
              <a:gdLst/>
              <a:ahLst/>
              <a:cxnLst/>
              <a:rect r="r" b="b" t="t" l="l"/>
              <a:pathLst>
                <a:path h="1718953" w="4274726">
                  <a:moveTo>
                    <a:pt x="0" y="0"/>
                  </a:moveTo>
                  <a:lnTo>
                    <a:pt x="4274726" y="0"/>
                  </a:lnTo>
                  <a:lnTo>
                    <a:pt x="4274726" y="1718953"/>
                  </a:lnTo>
                  <a:lnTo>
                    <a:pt x="0" y="1718953"/>
                  </a:lnTo>
                  <a:close/>
                </a:path>
              </a:pathLst>
            </a:custGeom>
            <a:solidFill>
              <a:srgbClr val="F1F2F2"/>
            </a:solidFill>
          </p:spPr>
        </p:sp>
        <p:sp>
          <p:nvSpPr>
            <p:cNvPr name="TextBox 7" id="7"/>
            <p:cNvSpPr txBox="true"/>
            <p:nvPr/>
          </p:nvSpPr>
          <p:spPr>
            <a:xfrm>
              <a:off x="0" y="-38100"/>
              <a:ext cx="4274726" cy="1757053"/>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5139012" y="687305"/>
            <a:ext cx="8009976" cy="1730229"/>
            <a:chOff x="0" y="0"/>
            <a:chExt cx="2109623" cy="455698"/>
          </a:xfrm>
        </p:grpSpPr>
        <p:sp>
          <p:nvSpPr>
            <p:cNvPr name="Freeform 9" id="9"/>
            <p:cNvSpPr/>
            <p:nvPr/>
          </p:nvSpPr>
          <p:spPr>
            <a:xfrm flipH="false" flipV="false" rot="0">
              <a:off x="0" y="0"/>
              <a:ext cx="2109623" cy="455698"/>
            </a:xfrm>
            <a:custGeom>
              <a:avLst/>
              <a:gdLst/>
              <a:ahLst/>
              <a:cxnLst/>
              <a:rect r="r" b="b" t="t" l="l"/>
              <a:pathLst>
                <a:path h="455698" w="2109623">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name="TextBox 10" id="10"/>
            <p:cNvSpPr txBox="true"/>
            <p:nvPr/>
          </p:nvSpPr>
          <p:spPr>
            <a:xfrm>
              <a:off x="0" y="-38100"/>
              <a:ext cx="2109623" cy="493798"/>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576611" y="8801100"/>
            <a:ext cx="19974273" cy="1861295"/>
            <a:chOff x="0" y="0"/>
            <a:chExt cx="5260714" cy="490218"/>
          </a:xfrm>
        </p:grpSpPr>
        <p:sp>
          <p:nvSpPr>
            <p:cNvPr name="Freeform 12" id="12"/>
            <p:cNvSpPr/>
            <p:nvPr/>
          </p:nvSpPr>
          <p:spPr>
            <a:xfrm flipH="false" flipV="false" rot="0">
              <a:off x="0" y="0"/>
              <a:ext cx="5260714" cy="490218"/>
            </a:xfrm>
            <a:custGeom>
              <a:avLst/>
              <a:gdLst/>
              <a:ahLst/>
              <a:cxnLst/>
              <a:rect r="r" b="b" t="t" l="l"/>
              <a:pathLst>
                <a:path h="490218" w="5260714">
                  <a:moveTo>
                    <a:pt x="0" y="0"/>
                  </a:moveTo>
                  <a:lnTo>
                    <a:pt x="5260714" y="0"/>
                  </a:lnTo>
                  <a:lnTo>
                    <a:pt x="5260714" y="490218"/>
                  </a:lnTo>
                  <a:lnTo>
                    <a:pt x="0" y="490218"/>
                  </a:lnTo>
                  <a:close/>
                </a:path>
              </a:pathLst>
            </a:custGeom>
            <a:solidFill>
              <a:srgbClr val="F1F2F2"/>
            </a:solidFill>
          </p:spPr>
        </p:sp>
        <p:sp>
          <p:nvSpPr>
            <p:cNvPr name="TextBox 13" id="13"/>
            <p:cNvSpPr txBox="true"/>
            <p:nvPr/>
          </p:nvSpPr>
          <p:spPr>
            <a:xfrm>
              <a:off x="0" y="-38100"/>
              <a:ext cx="5260714" cy="528318"/>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4543721" y="904875"/>
            <a:ext cx="9200557" cy="1125710"/>
          </a:xfrm>
          <a:prstGeom prst="rect">
            <a:avLst/>
          </a:prstGeom>
        </p:spPr>
        <p:txBody>
          <a:bodyPr anchor="t" rtlCol="false" tIns="0" lIns="0" bIns="0" rIns="0">
            <a:spAutoFit/>
          </a:bodyPr>
          <a:lstStyle/>
          <a:p>
            <a:pPr algn="ctr">
              <a:lnSpc>
                <a:spcPts val="9250"/>
              </a:lnSpc>
            </a:pPr>
            <a:r>
              <a:rPr lang="en-US" sz="6607">
                <a:solidFill>
                  <a:srgbClr val="000000"/>
                </a:solidFill>
                <a:latin typeface="Fredoka"/>
                <a:ea typeface="Fredoka"/>
                <a:cs typeface="Fredoka"/>
                <a:sym typeface="Fredoka"/>
              </a:rPr>
              <a:t>OUR TEAM</a:t>
            </a:r>
          </a:p>
        </p:txBody>
      </p:sp>
      <p:sp>
        <p:nvSpPr>
          <p:cNvPr name="Freeform 15" id="15"/>
          <p:cNvSpPr/>
          <p:nvPr/>
        </p:nvSpPr>
        <p:spPr>
          <a:xfrm flipH="false" flipV="false" rot="0">
            <a:off x="-1109662" y="-911620"/>
            <a:ext cx="2942276" cy="2942276"/>
          </a:xfrm>
          <a:custGeom>
            <a:avLst/>
            <a:gdLst/>
            <a:ahLst/>
            <a:cxnLst/>
            <a:rect r="r" b="b" t="t" l="l"/>
            <a:pathLst>
              <a:path h="2942276" w="2942276">
                <a:moveTo>
                  <a:pt x="0" y="0"/>
                </a:moveTo>
                <a:lnTo>
                  <a:pt x="2942276" y="0"/>
                </a:lnTo>
                <a:lnTo>
                  <a:pt x="2942276" y="2942276"/>
                </a:lnTo>
                <a:lnTo>
                  <a:pt x="0" y="29422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16590398" y="6983167"/>
            <a:ext cx="3395204" cy="1049427"/>
          </a:xfrm>
          <a:custGeom>
            <a:avLst/>
            <a:gdLst/>
            <a:ahLst/>
            <a:cxnLst/>
            <a:rect r="r" b="b" t="t" l="l"/>
            <a:pathLst>
              <a:path h="1049427" w="3395204">
                <a:moveTo>
                  <a:pt x="0" y="0"/>
                </a:moveTo>
                <a:lnTo>
                  <a:pt x="3395204" y="0"/>
                </a:lnTo>
                <a:lnTo>
                  <a:pt x="3395204" y="1049427"/>
                </a:lnTo>
                <a:lnTo>
                  <a:pt x="0" y="104942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7" id="17"/>
          <p:cNvSpPr txBox="true"/>
          <p:nvPr/>
        </p:nvSpPr>
        <p:spPr>
          <a:xfrm rot="0">
            <a:off x="2246042" y="2939055"/>
            <a:ext cx="13795916" cy="3765419"/>
          </a:xfrm>
          <a:prstGeom prst="rect">
            <a:avLst/>
          </a:prstGeom>
        </p:spPr>
        <p:txBody>
          <a:bodyPr anchor="t" rtlCol="false" tIns="0" lIns="0" bIns="0" rIns="0">
            <a:spAutoFit/>
          </a:bodyPr>
          <a:lstStyle/>
          <a:p>
            <a:pPr algn="ctr">
              <a:lnSpc>
                <a:spcPts val="7699"/>
              </a:lnSpc>
            </a:pPr>
            <a:r>
              <a:rPr lang="en-US" sz="3499">
                <a:solidFill>
                  <a:srgbClr val="000000"/>
                </a:solidFill>
                <a:latin typeface="Nunito Bold"/>
                <a:ea typeface="Nunito Bold"/>
                <a:cs typeface="Nunito Bold"/>
                <a:sym typeface="Nunito Bold"/>
              </a:rPr>
              <a:t>May Caspi </a:t>
            </a:r>
          </a:p>
          <a:p>
            <a:pPr algn="ctr">
              <a:lnSpc>
                <a:spcPts val="7699"/>
              </a:lnSpc>
            </a:pPr>
            <a:r>
              <a:rPr lang="en-US" sz="3499">
                <a:solidFill>
                  <a:srgbClr val="000000"/>
                </a:solidFill>
                <a:latin typeface="Nunito Bold"/>
                <a:ea typeface="Nunito Bold"/>
                <a:cs typeface="Nunito Bold"/>
                <a:sym typeface="Nunito Bold"/>
              </a:rPr>
              <a:t>Anna Garmash</a:t>
            </a:r>
          </a:p>
          <a:p>
            <a:pPr algn="ctr">
              <a:lnSpc>
                <a:spcPts val="7699"/>
              </a:lnSpc>
            </a:pPr>
            <a:r>
              <a:rPr lang="en-US" sz="3499">
                <a:solidFill>
                  <a:srgbClr val="000000"/>
                </a:solidFill>
                <a:latin typeface="Nunito Bold"/>
                <a:ea typeface="Nunito Bold"/>
                <a:cs typeface="Nunito Bold"/>
                <a:sym typeface="Nunito Bold"/>
              </a:rPr>
              <a:t>Oren Baranovsky</a:t>
            </a:r>
          </a:p>
          <a:p>
            <a:pPr algn="ctr">
              <a:lnSpc>
                <a:spcPts val="7699"/>
              </a:lnSpc>
            </a:pPr>
            <a:r>
              <a:rPr lang="en-US" sz="3499">
                <a:solidFill>
                  <a:srgbClr val="000000"/>
                </a:solidFill>
                <a:latin typeface="Nunito Bold"/>
                <a:ea typeface="Nunito Bold"/>
                <a:cs typeface="Nunito Bold"/>
                <a:sym typeface="Nunito Bold"/>
              </a:rPr>
              <a:t>Lior Panikashvili</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09662" y="0"/>
            <a:ext cx="20507325" cy="10287000"/>
            <a:chOff x="0" y="0"/>
            <a:chExt cx="27343100" cy="13716000"/>
          </a:xfrm>
        </p:grpSpPr>
        <p:sp>
          <p:nvSpPr>
            <p:cNvPr name="Freeform 3" id="3"/>
            <p:cNvSpPr/>
            <p:nvPr/>
          </p:nvSpPr>
          <p:spPr>
            <a:xfrm flipH="false" flipV="false" rot="0">
              <a:off x="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62710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1028700" y="1505943"/>
            <a:ext cx="16230600" cy="6526651"/>
            <a:chOff x="0" y="0"/>
            <a:chExt cx="4274726" cy="1718953"/>
          </a:xfrm>
        </p:grpSpPr>
        <p:sp>
          <p:nvSpPr>
            <p:cNvPr name="Freeform 6" id="6"/>
            <p:cNvSpPr/>
            <p:nvPr/>
          </p:nvSpPr>
          <p:spPr>
            <a:xfrm flipH="false" flipV="false" rot="0">
              <a:off x="0" y="0"/>
              <a:ext cx="4274726" cy="1718953"/>
            </a:xfrm>
            <a:custGeom>
              <a:avLst/>
              <a:gdLst/>
              <a:ahLst/>
              <a:cxnLst/>
              <a:rect r="r" b="b" t="t" l="l"/>
              <a:pathLst>
                <a:path h="1718953" w="4274726">
                  <a:moveTo>
                    <a:pt x="0" y="0"/>
                  </a:moveTo>
                  <a:lnTo>
                    <a:pt x="4274726" y="0"/>
                  </a:lnTo>
                  <a:lnTo>
                    <a:pt x="4274726" y="1718953"/>
                  </a:lnTo>
                  <a:lnTo>
                    <a:pt x="0" y="1718953"/>
                  </a:lnTo>
                  <a:close/>
                </a:path>
              </a:pathLst>
            </a:custGeom>
            <a:solidFill>
              <a:srgbClr val="F1F2F2"/>
            </a:solidFill>
          </p:spPr>
        </p:sp>
        <p:sp>
          <p:nvSpPr>
            <p:cNvPr name="TextBox 7" id="7"/>
            <p:cNvSpPr txBox="true"/>
            <p:nvPr/>
          </p:nvSpPr>
          <p:spPr>
            <a:xfrm>
              <a:off x="0" y="-38100"/>
              <a:ext cx="4274726" cy="1757053"/>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5139012" y="687305"/>
            <a:ext cx="8009976" cy="1730229"/>
            <a:chOff x="0" y="0"/>
            <a:chExt cx="2109623" cy="455698"/>
          </a:xfrm>
        </p:grpSpPr>
        <p:sp>
          <p:nvSpPr>
            <p:cNvPr name="Freeform 9" id="9"/>
            <p:cNvSpPr/>
            <p:nvPr/>
          </p:nvSpPr>
          <p:spPr>
            <a:xfrm flipH="false" flipV="false" rot="0">
              <a:off x="0" y="0"/>
              <a:ext cx="2109623" cy="455698"/>
            </a:xfrm>
            <a:custGeom>
              <a:avLst/>
              <a:gdLst/>
              <a:ahLst/>
              <a:cxnLst/>
              <a:rect r="r" b="b" t="t" l="l"/>
              <a:pathLst>
                <a:path h="455698" w="2109623">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name="TextBox 10" id="10"/>
            <p:cNvSpPr txBox="true"/>
            <p:nvPr/>
          </p:nvSpPr>
          <p:spPr>
            <a:xfrm>
              <a:off x="0" y="-38100"/>
              <a:ext cx="2109623" cy="493798"/>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576611" y="8801100"/>
            <a:ext cx="19974273" cy="1861295"/>
            <a:chOff x="0" y="0"/>
            <a:chExt cx="5260714" cy="490218"/>
          </a:xfrm>
        </p:grpSpPr>
        <p:sp>
          <p:nvSpPr>
            <p:cNvPr name="Freeform 12" id="12"/>
            <p:cNvSpPr/>
            <p:nvPr/>
          </p:nvSpPr>
          <p:spPr>
            <a:xfrm flipH="false" flipV="false" rot="0">
              <a:off x="0" y="0"/>
              <a:ext cx="5260714" cy="490218"/>
            </a:xfrm>
            <a:custGeom>
              <a:avLst/>
              <a:gdLst/>
              <a:ahLst/>
              <a:cxnLst/>
              <a:rect r="r" b="b" t="t" l="l"/>
              <a:pathLst>
                <a:path h="490218" w="5260714">
                  <a:moveTo>
                    <a:pt x="0" y="0"/>
                  </a:moveTo>
                  <a:lnTo>
                    <a:pt x="5260714" y="0"/>
                  </a:lnTo>
                  <a:lnTo>
                    <a:pt x="5260714" y="490218"/>
                  </a:lnTo>
                  <a:lnTo>
                    <a:pt x="0" y="490218"/>
                  </a:lnTo>
                  <a:close/>
                </a:path>
              </a:pathLst>
            </a:custGeom>
            <a:solidFill>
              <a:srgbClr val="F1F2F2"/>
            </a:solidFill>
          </p:spPr>
        </p:sp>
        <p:sp>
          <p:nvSpPr>
            <p:cNvPr name="TextBox 13" id="13"/>
            <p:cNvSpPr txBox="true"/>
            <p:nvPr/>
          </p:nvSpPr>
          <p:spPr>
            <a:xfrm>
              <a:off x="0" y="-38100"/>
              <a:ext cx="5260714" cy="528318"/>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4543721" y="904875"/>
            <a:ext cx="9200557" cy="1125781"/>
          </a:xfrm>
          <a:prstGeom prst="rect">
            <a:avLst/>
          </a:prstGeom>
        </p:spPr>
        <p:txBody>
          <a:bodyPr anchor="t" rtlCol="false" tIns="0" lIns="0" bIns="0" rIns="0">
            <a:spAutoFit/>
          </a:bodyPr>
          <a:lstStyle/>
          <a:p>
            <a:pPr algn="ctr">
              <a:lnSpc>
                <a:spcPts val="9250"/>
              </a:lnSpc>
            </a:pPr>
            <a:r>
              <a:rPr lang="en-US" sz="6607">
                <a:solidFill>
                  <a:srgbClr val="000000"/>
                </a:solidFill>
                <a:latin typeface="Fredoka"/>
                <a:ea typeface="Fredoka"/>
                <a:cs typeface="Fredoka"/>
                <a:sym typeface="Fredoka"/>
              </a:rPr>
              <a:t>INTRODUCTION </a:t>
            </a:r>
          </a:p>
        </p:txBody>
      </p:sp>
      <p:sp>
        <p:nvSpPr>
          <p:cNvPr name="TextBox 15" id="15"/>
          <p:cNvSpPr txBox="true"/>
          <p:nvPr/>
        </p:nvSpPr>
        <p:spPr>
          <a:xfrm rot="0">
            <a:off x="2246042" y="3205755"/>
            <a:ext cx="13795916" cy="3063875"/>
          </a:xfrm>
          <a:prstGeom prst="rect">
            <a:avLst/>
          </a:prstGeom>
        </p:spPr>
        <p:txBody>
          <a:bodyPr anchor="t" rtlCol="false" tIns="0" lIns="0" bIns="0" rIns="0">
            <a:spAutoFit/>
          </a:bodyPr>
          <a:lstStyle/>
          <a:p>
            <a:pPr algn="ctr">
              <a:lnSpc>
                <a:spcPts val="4899"/>
              </a:lnSpc>
            </a:pPr>
            <a:r>
              <a:rPr lang="en-US" sz="3499">
                <a:solidFill>
                  <a:srgbClr val="000000"/>
                </a:solidFill>
                <a:latin typeface="Nunito Bold"/>
                <a:ea typeface="Nunito Bold"/>
                <a:cs typeface="Nunito Bold"/>
                <a:sym typeface="Nunito Bold"/>
              </a:rPr>
              <a:t>Our project focuses on designing an application for onShape project managers to display and interact with their resulting data visually. This application will enable users to select interesting elements and present information through dynamic tables and graphs.</a:t>
            </a:r>
          </a:p>
        </p:txBody>
      </p:sp>
      <p:sp>
        <p:nvSpPr>
          <p:cNvPr name="Freeform 16" id="16"/>
          <p:cNvSpPr/>
          <p:nvPr/>
        </p:nvSpPr>
        <p:spPr>
          <a:xfrm flipH="false" flipV="false" rot="0">
            <a:off x="-1109662" y="-911620"/>
            <a:ext cx="2942276" cy="2942276"/>
          </a:xfrm>
          <a:custGeom>
            <a:avLst/>
            <a:gdLst/>
            <a:ahLst/>
            <a:cxnLst/>
            <a:rect r="r" b="b" t="t" l="l"/>
            <a:pathLst>
              <a:path h="2942276" w="2942276">
                <a:moveTo>
                  <a:pt x="0" y="0"/>
                </a:moveTo>
                <a:lnTo>
                  <a:pt x="2942276" y="0"/>
                </a:lnTo>
                <a:lnTo>
                  <a:pt x="2942276" y="2942276"/>
                </a:lnTo>
                <a:lnTo>
                  <a:pt x="0" y="29422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false" flipV="false" rot="0">
            <a:off x="16590398" y="6983167"/>
            <a:ext cx="3395204" cy="1049427"/>
          </a:xfrm>
          <a:custGeom>
            <a:avLst/>
            <a:gdLst/>
            <a:ahLst/>
            <a:cxnLst/>
            <a:rect r="r" b="b" t="t" l="l"/>
            <a:pathLst>
              <a:path h="1049427" w="3395204">
                <a:moveTo>
                  <a:pt x="0" y="0"/>
                </a:moveTo>
                <a:lnTo>
                  <a:pt x="3395204" y="0"/>
                </a:lnTo>
                <a:lnTo>
                  <a:pt x="3395204" y="1049427"/>
                </a:lnTo>
                <a:lnTo>
                  <a:pt x="0" y="104942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09662" y="0"/>
            <a:ext cx="20507325" cy="10287000"/>
            <a:chOff x="0" y="0"/>
            <a:chExt cx="27343100" cy="13716000"/>
          </a:xfrm>
        </p:grpSpPr>
        <p:sp>
          <p:nvSpPr>
            <p:cNvPr name="Freeform 3" id="3"/>
            <p:cNvSpPr/>
            <p:nvPr/>
          </p:nvSpPr>
          <p:spPr>
            <a:xfrm flipH="false" flipV="false" rot="0">
              <a:off x="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62710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1028700" y="1328816"/>
            <a:ext cx="16230600" cy="6700227"/>
            <a:chOff x="0" y="0"/>
            <a:chExt cx="4274726" cy="1764669"/>
          </a:xfrm>
        </p:grpSpPr>
        <p:sp>
          <p:nvSpPr>
            <p:cNvPr name="Freeform 6" id="6"/>
            <p:cNvSpPr/>
            <p:nvPr/>
          </p:nvSpPr>
          <p:spPr>
            <a:xfrm flipH="false" flipV="false" rot="0">
              <a:off x="0" y="0"/>
              <a:ext cx="4274726" cy="1764669"/>
            </a:xfrm>
            <a:custGeom>
              <a:avLst/>
              <a:gdLst/>
              <a:ahLst/>
              <a:cxnLst/>
              <a:rect r="r" b="b" t="t" l="l"/>
              <a:pathLst>
                <a:path h="1764669" w="4274726">
                  <a:moveTo>
                    <a:pt x="0" y="0"/>
                  </a:moveTo>
                  <a:lnTo>
                    <a:pt x="4274726" y="0"/>
                  </a:lnTo>
                  <a:lnTo>
                    <a:pt x="4274726" y="1764669"/>
                  </a:lnTo>
                  <a:lnTo>
                    <a:pt x="0" y="1764669"/>
                  </a:lnTo>
                  <a:close/>
                </a:path>
              </a:pathLst>
            </a:custGeom>
            <a:solidFill>
              <a:srgbClr val="F1F2F2"/>
            </a:solidFill>
          </p:spPr>
        </p:sp>
        <p:sp>
          <p:nvSpPr>
            <p:cNvPr name="TextBox 7" id="7"/>
            <p:cNvSpPr txBox="true"/>
            <p:nvPr/>
          </p:nvSpPr>
          <p:spPr>
            <a:xfrm>
              <a:off x="0" y="-38100"/>
              <a:ext cx="4274726" cy="1802769"/>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4272999" y="687305"/>
            <a:ext cx="9742003" cy="1730229"/>
            <a:chOff x="0" y="0"/>
            <a:chExt cx="2565795" cy="455698"/>
          </a:xfrm>
        </p:grpSpPr>
        <p:sp>
          <p:nvSpPr>
            <p:cNvPr name="Freeform 9" id="9"/>
            <p:cNvSpPr/>
            <p:nvPr/>
          </p:nvSpPr>
          <p:spPr>
            <a:xfrm flipH="false" flipV="false" rot="0">
              <a:off x="0" y="0"/>
              <a:ext cx="2565795" cy="455698"/>
            </a:xfrm>
            <a:custGeom>
              <a:avLst/>
              <a:gdLst/>
              <a:ahLst/>
              <a:cxnLst/>
              <a:rect r="r" b="b" t="t" l="l"/>
              <a:pathLst>
                <a:path h="455698" w="2565795">
                  <a:moveTo>
                    <a:pt x="0" y="0"/>
                  </a:moveTo>
                  <a:lnTo>
                    <a:pt x="2565795" y="0"/>
                  </a:lnTo>
                  <a:lnTo>
                    <a:pt x="2565795" y="455698"/>
                  </a:lnTo>
                  <a:lnTo>
                    <a:pt x="0" y="455698"/>
                  </a:lnTo>
                  <a:close/>
                </a:path>
              </a:pathLst>
            </a:custGeom>
            <a:solidFill>
              <a:srgbClr val="DDDEDE"/>
            </a:solidFill>
            <a:ln w="38100" cap="sq">
              <a:solidFill>
                <a:srgbClr val="F1F2F2"/>
              </a:solidFill>
              <a:prstDash val="solid"/>
              <a:miter/>
            </a:ln>
          </p:spPr>
        </p:sp>
        <p:sp>
          <p:nvSpPr>
            <p:cNvPr name="TextBox 10" id="10"/>
            <p:cNvSpPr txBox="true"/>
            <p:nvPr/>
          </p:nvSpPr>
          <p:spPr>
            <a:xfrm>
              <a:off x="0" y="-38100"/>
              <a:ext cx="2565795" cy="493798"/>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576611" y="8801100"/>
            <a:ext cx="19974273" cy="1861295"/>
            <a:chOff x="0" y="0"/>
            <a:chExt cx="5260714" cy="490218"/>
          </a:xfrm>
        </p:grpSpPr>
        <p:sp>
          <p:nvSpPr>
            <p:cNvPr name="Freeform 12" id="12"/>
            <p:cNvSpPr/>
            <p:nvPr/>
          </p:nvSpPr>
          <p:spPr>
            <a:xfrm flipH="false" flipV="false" rot="0">
              <a:off x="0" y="0"/>
              <a:ext cx="5260714" cy="490218"/>
            </a:xfrm>
            <a:custGeom>
              <a:avLst/>
              <a:gdLst/>
              <a:ahLst/>
              <a:cxnLst/>
              <a:rect r="r" b="b" t="t" l="l"/>
              <a:pathLst>
                <a:path h="490218" w="5260714">
                  <a:moveTo>
                    <a:pt x="0" y="0"/>
                  </a:moveTo>
                  <a:lnTo>
                    <a:pt x="5260714" y="0"/>
                  </a:lnTo>
                  <a:lnTo>
                    <a:pt x="5260714" y="490218"/>
                  </a:lnTo>
                  <a:lnTo>
                    <a:pt x="0" y="490218"/>
                  </a:lnTo>
                  <a:close/>
                </a:path>
              </a:pathLst>
            </a:custGeom>
            <a:solidFill>
              <a:srgbClr val="F1F2F2"/>
            </a:solidFill>
          </p:spPr>
        </p:sp>
        <p:sp>
          <p:nvSpPr>
            <p:cNvPr name="TextBox 13" id="13"/>
            <p:cNvSpPr txBox="true"/>
            <p:nvPr/>
          </p:nvSpPr>
          <p:spPr>
            <a:xfrm>
              <a:off x="0" y="-38100"/>
              <a:ext cx="5260714" cy="528318"/>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15824275" y="6533193"/>
            <a:ext cx="1949375" cy="1949375"/>
          </a:xfrm>
          <a:custGeom>
            <a:avLst/>
            <a:gdLst/>
            <a:ahLst/>
            <a:cxnLst/>
            <a:rect r="r" b="b" t="t" l="l"/>
            <a:pathLst>
              <a:path h="1949375" w="1949375">
                <a:moveTo>
                  <a:pt x="0" y="0"/>
                </a:moveTo>
                <a:lnTo>
                  <a:pt x="1949375" y="0"/>
                </a:lnTo>
                <a:lnTo>
                  <a:pt x="1949375" y="1949375"/>
                </a:lnTo>
                <a:lnTo>
                  <a:pt x="0" y="19493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0">
            <a:off x="-668902" y="1028700"/>
            <a:ext cx="3395204" cy="1049427"/>
          </a:xfrm>
          <a:custGeom>
            <a:avLst/>
            <a:gdLst/>
            <a:ahLst/>
            <a:cxnLst/>
            <a:rect r="r" b="b" t="t" l="l"/>
            <a:pathLst>
              <a:path h="1049427" w="3395204">
                <a:moveTo>
                  <a:pt x="0" y="0"/>
                </a:moveTo>
                <a:lnTo>
                  <a:pt x="3395204" y="0"/>
                </a:lnTo>
                <a:lnTo>
                  <a:pt x="3395204" y="1049427"/>
                </a:lnTo>
                <a:lnTo>
                  <a:pt x="0" y="104942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6" id="16"/>
          <p:cNvSpPr/>
          <p:nvPr/>
        </p:nvSpPr>
        <p:spPr>
          <a:xfrm flipH="false" flipV="false" rot="0">
            <a:off x="4716498" y="2585770"/>
            <a:ext cx="8620452" cy="5295196"/>
          </a:xfrm>
          <a:custGeom>
            <a:avLst/>
            <a:gdLst/>
            <a:ahLst/>
            <a:cxnLst/>
            <a:rect r="r" b="b" t="t" l="l"/>
            <a:pathLst>
              <a:path h="5295196" w="8620452">
                <a:moveTo>
                  <a:pt x="0" y="0"/>
                </a:moveTo>
                <a:lnTo>
                  <a:pt x="8620453" y="0"/>
                </a:lnTo>
                <a:lnTo>
                  <a:pt x="8620453" y="5295195"/>
                </a:lnTo>
                <a:lnTo>
                  <a:pt x="0" y="5295195"/>
                </a:lnTo>
                <a:lnTo>
                  <a:pt x="0" y="0"/>
                </a:lnTo>
                <a:close/>
              </a:path>
            </a:pathLst>
          </a:custGeom>
          <a:blipFill>
            <a:blip r:embed="rId8"/>
            <a:stretch>
              <a:fillRect l="0" t="0" r="0" b="0"/>
            </a:stretch>
          </a:blipFill>
        </p:spPr>
      </p:sp>
      <p:sp>
        <p:nvSpPr>
          <p:cNvPr name="TextBox 17" id="17"/>
          <p:cNvSpPr txBox="true"/>
          <p:nvPr/>
        </p:nvSpPr>
        <p:spPr>
          <a:xfrm rot="0">
            <a:off x="3871603" y="981260"/>
            <a:ext cx="10310244" cy="1030072"/>
          </a:xfrm>
          <a:prstGeom prst="rect">
            <a:avLst/>
          </a:prstGeom>
        </p:spPr>
        <p:txBody>
          <a:bodyPr anchor="t" rtlCol="false" tIns="0" lIns="0" bIns="0" rIns="0">
            <a:spAutoFit/>
          </a:bodyPr>
          <a:lstStyle/>
          <a:p>
            <a:pPr algn="ctr">
              <a:lnSpc>
                <a:spcPts val="8454"/>
              </a:lnSpc>
            </a:pPr>
            <a:r>
              <a:rPr lang="en-US" sz="6039">
                <a:solidFill>
                  <a:srgbClr val="000000"/>
                </a:solidFill>
                <a:latin typeface="Fredoka"/>
                <a:ea typeface="Fredoka"/>
                <a:cs typeface="Fredoka"/>
                <a:sym typeface="Fredoka"/>
              </a:rPr>
              <a:t>SYSTEM ARCHITECTURE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09662" y="0"/>
            <a:ext cx="20507325" cy="10287000"/>
            <a:chOff x="0" y="0"/>
            <a:chExt cx="27343100" cy="13716000"/>
          </a:xfrm>
        </p:grpSpPr>
        <p:sp>
          <p:nvSpPr>
            <p:cNvPr name="Freeform 3" id="3"/>
            <p:cNvSpPr/>
            <p:nvPr/>
          </p:nvSpPr>
          <p:spPr>
            <a:xfrm flipH="false" flipV="false" rot="0">
              <a:off x="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62710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5139012" y="3832934"/>
            <a:ext cx="8009976" cy="1730229"/>
            <a:chOff x="0" y="0"/>
            <a:chExt cx="2109623" cy="455698"/>
          </a:xfrm>
        </p:grpSpPr>
        <p:sp>
          <p:nvSpPr>
            <p:cNvPr name="Freeform 6" id="6"/>
            <p:cNvSpPr/>
            <p:nvPr/>
          </p:nvSpPr>
          <p:spPr>
            <a:xfrm flipH="false" flipV="false" rot="0">
              <a:off x="0" y="0"/>
              <a:ext cx="2109623" cy="455698"/>
            </a:xfrm>
            <a:custGeom>
              <a:avLst/>
              <a:gdLst/>
              <a:ahLst/>
              <a:cxnLst/>
              <a:rect r="r" b="b" t="t" l="l"/>
              <a:pathLst>
                <a:path h="455698" w="2109623">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name="TextBox 7" id="7"/>
            <p:cNvSpPr txBox="true"/>
            <p:nvPr/>
          </p:nvSpPr>
          <p:spPr>
            <a:xfrm>
              <a:off x="0" y="-38100"/>
              <a:ext cx="2109623" cy="493798"/>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576611" y="8801100"/>
            <a:ext cx="19974273" cy="1861295"/>
            <a:chOff x="0" y="0"/>
            <a:chExt cx="5260714" cy="490218"/>
          </a:xfrm>
        </p:grpSpPr>
        <p:sp>
          <p:nvSpPr>
            <p:cNvPr name="Freeform 9" id="9"/>
            <p:cNvSpPr/>
            <p:nvPr/>
          </p:nvSpPr>
          <p:spPr>
            <a:xfrm flipH="false" flipV="false" rot="0">
              <a:off x="0" y="0"/>
              <a:ext cx="5260714" cy="490218"/>
            </a:xfrm>
            <a:custGeom>
              <a:avLst/>
              <a:gdLst/>
              <a:ahLst/>
              <a:cxnLst/>
              <a:rect r="r" b="b" t="t" l="l"/>
              <a:pathLst>
                <a:path h="490218" w="5260714">
                  <a:moveTo>
                    <a:pt x="0" y="0"/>
                  </a:moveTo>
                  <a:lnTo>
                    <a:pt x="5260714" y="0"/>
                  </a:lnTo>
                  <a:lnTo>
                    <a:pt x="5260714" y="490218"/>
                  </a:lnTo>
                  <a:lnTo>
                    <a:pt x="0" y="490218"/>
                  </a:lnTo>
                  <a:close/>
                </a:path>
              </a:pathLst>
            </a:custGeom>
            <a:solidFill>
              <a:srgbClr val="F1F2F2"/>
            </a:solidFill>
          </p:spPr>
        </p:sp>
        <p:sp>
          <p:nvSpPr>
            <p:cNvPr name="TextBox 10" id="10"/>
            <p:cNvSpPr txBox="true"/>
            <p:nvPr/>
          </p:nvSpPr>
          <p:spPr>
            <a:xfrm>
              <a:off x="0" y="-38100"/>
              <a:ext cx="5260714" cy="528318"/>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true" flipV="false" rot="-1536545">
            <a:off x="16487867" y="-61854"/>
            <a:ext cx="2537840" cy="2297899"/>
          </a:xfrm>
          <a:custGeom>
            <a:avLst/>
            <a:gdLst/>
            <a:ahLst/>
            <a:cxnLst/>
            <a:rect r="r" b="b" t="t" l="l"/>
            <a:pathLst>
              <a:path h="2297899" w="2537840">
                <a:moveTo>
                  <a:pt x="2537840" y="0"/>
                </a:moveTo>
                <a:lnTo>
                  <a:pt x="0" y="0"/>
                </a:lnTo>
                <a:lnTo>
                  <a:pt x="0" y="2297898"/>
                </a:lnTo>
                <a:lnTo>
                  <a:pt x="2537840" y="2297898"/>
                </a:lnTo>
                <a:lnTo>
                  <a:pt x="253784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4543721" y="4017790"/>
            <a:ext cx="9200557" cy="1125710"/>
          </a:xfrm>
          <a:prstGeom prst="rect">
            <a:avLst/>
          </a:prstGeom>
        </p:spPr>
        <p:txBody>
          <a:bodyPr anchor="t" rtlCol="false" tIns="0" lIns="0" bIns="0" rIns="0">
            <a:spAutoFit/>
          </a:bodyPr>
          <a:lstStyle/>
          <a:p>
            <a:pPr algn="ctr">
              <a:lnSpc>
                <a:spcPts val="9250"/>
              </a:lnSpc>
            </a:pPr>
            <a:r>
              <a:rPr lang="en-US" sz="6607">
                <a:solidFill>
                  <a:srgbClr val="000000"/>
                </a:solidFill>
                <a:latin typeface="Fredoka"/>
                <a:ea typeface="Fredoka"/>
                <a:cs typeface="Fredoka"/>
                <a:sym typeface="Fredoka"/>
              </a:rPr>
              <a:t>SCREENS</a:t>
            </a:r>
          </a:p>
        </p:txBody>
      </p:sp>
      <p:sp>
        <p:nvSpPr>
          <p:cNvPr name="Freeform 13" id="13"/>
          <p:cNvSpPr/>
          <p:nvPr/>
        </p:nvSpPr>
        <p:spPr>
          <a:xfrm flipH="true" flipV="false" rot="9999176">
            <a:off x="-1316676" y="1716564"/>
            <a:ext cx="2537840" cy="2297899"/>
          </a:xfrm>
          <a:custGeom>
            <a:avLst/>
            <a:gdLst/>
            <a:ahLst/>
            <a:cxnLst/>
            <a:rect r="r" b="b" t="t" l="l"/>
            <a:pathLst>
              <a:path h="2297899" w="2537840">
                <a:moveTo>
                  <a:pt x="2537840" y="0"/>
                </a:moveTo>
                <a:lnTo>
                  <a:pt x="0" y="0"/>
                </a:lnTo>
                <a:lnTo>
                  <a:pt x="0" y="2297898"/>
                </a:lnTo>
                <a:lnTo>
                  <a:pt x="2537840" y="2297898"/>
                </a:lnTo>
                <a:lnTo>
                  <a:pt x="253784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09662" y="0"/>
            <a:ext cx="20507325" cy="10287000"/>
            <a:chOff x="0" y="0"/>
            <a:chExt cx="27343100" cy="13716000"/>
          </a:xfrm>
        </p:grpSpPr>
        <p:sp>
          <p:nvSpPr>
            <p:cNvPr name="Freeform 3" id="3"/>
            <p:cNvSpPr/>
            <p:nvPr/>
          </p:nvSpPr>
          <p:spPr>
            <a:xfrm flipH="false" flipV="false" rot="0">
              <a:off x="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62710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2116949" y="1896628"/>
            <a:ext cx="2942276" cy="2942276"/>
          </a:xfrm>
          <a:custGeom>
            <a:avLst/>
            <a:gdLst/>
            <a:ahLst/>
            <a:cxnLst/>
            <a:rect r="r" b="b" t="t" l="l"/>
            <a:pathLst>
              <a:path h="2942276" w="2942276">
                <a:moveTo>
                  <a:pt x="0" y="0"/>
                </a:moveTo>
                <a:lnTo>
                  <a:pt x="2942276" y="0"/>
                </a:lnTo>
                <a:lnTo>
                  <a:pt x="2942276" y="2942276"/>
                </a:lnTo>
                <a:lnTo>
                  <a:pt x="0" y="29422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2399945" y="6010601"/>
            <a:ext cx="3395204" cy="1049427"/>
          </a:xfrm>
          <a:custGeom>
            <a:avLst/>
            <a:gdLst/>
            <a:ahLst/>
            <a:cxnLst/>
            <a:rect r="r" b="b" t="t" l="l"/>
            <a:pathLst>
              <a:path h="1049427" w="3395204">
                <a:moveTo>
                  <a:pt x="0" y="0"/>
                </a:moveTo>
                <a:lnTo>
                  <a:pt x="3395204" y="0"/>
                </a:lnTo>
                <a:lnTo>
                  <a:pt x="3395204" y="1049427"/>
                </a:lnTo>
                <a:lnTo>
                  <a:pt x="0" y="104942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300588" y="2269039"/>
            <a:ext cx="15879525" cy="7989386"/>
          </a:xfrm>
          <a:custGeom>
            <a:avLst/>
            <a:gdLst/>
            <a:ahLst/>
            <a:cxnLst/>
            <a:rect r="r" b="b" t="t" l="l"/>
            <a:pathLst>
              <a:path h="7989386" w="15879525">
                <a:moveTo>
                  <a:pt x="0" y="0"/>
                </a:moveTo>
                <a:lnTo>
                  <a:pt x="15879524" y="0"/>
                </a:lnTo>
                <a:lnTo>
                  <a:pt x="15879524" y="7989386"/>
                </a:lnTo>
                <a:lnTo>
                  <a:pt x="0" y="7989386"/>
                </a:lnTo>
                <a:lnTo>
                  <a:pt x="0" y="0"/>
                </a:lnTo>
                <a:close/>
              </a:path>
            </a:pathLst>
          </a:custGeom>
          <a:blipFill>
            <a:blip r:embed="rId8"/>
            <a:stretch>
              <a:fillRect l="0" t="0" r="0" b="0"/>
            </a:stretch>
          </a:blipFill>
        </p:spPr>
      </p:sp>
      <p:sp>
        <p:nvSpPr>
          <p:cNvPr name="TextBox 8" id="8"/>
          <p:cNvSpPr txBox="true"/>
          <p:nvPr/>
        </p:nvSpPr>
        <p:spPr>
          <a:xfrm rot="0">
            <a:off x="4234241" y="-180066"/>
            <a:ext cx="10153490" cy="1208766"/>
          </a:xfrm>
          <a:prstGeom prst="rect">
            <a:avLst/>
          </a:prstGeom>
        </p:spPr>
        <p:txBody>
          <a:bodyPr anchor="t" rtlCol="false" tIns="0" lIns="0" bIns="0" rIns="0">
            <a:spAutoFit/>
          </a:bodyPr>
          <a:lstStyle/>
          <a:p>
            <a:pPr algn="ctr">
              <a:lnSpc>
                <a:spcPts val="9929"/>
              </a:lnSpc>
            </a:pPr>
            <a:r>
              <a:rPr lang="en-US" sz="7092">
                <a:solidFill>
                  <a:srgbClr val="000000"/>
                </a:solidFill>
                <a:latin typeface="Fredoka"/>
                <a:ea typeface="Fredoka"/>
                <a:cs typeface="Fredoka"/>
                <a:sym typeface="Fredoka"/>
              </a:rPr>
              <a:t>HOME DASHBOARD</a:t>
            </a:r>
          </a:p>
        </p:txBody>
      </p:sp>
      <p:grpSp>
        <p:nvGrpSpPr>
          <p:cNvPr name="Group 9" id="9"/>
          <p:cNvGrpSpPr/>
          <p:nvPr/>
        </p:nvGrpSpPr>
        <p:grpSpPr>
          <a:xfrm rot="0">
            <a:off x="192700" y="928204"/>
            <a:ext cx="18095300" cy="1209306"/>
            <a:chOff x="0" y="0"/>
            <a:chExt cx="4765840" cy="318500"/>
          </a:xfrm>
        </p:grpSpPr>
        <p:sp>
          <p:nvSpPr>
            <p:cNvPr name="Freeform 10" id="10"/>
            <p:cNvSpPr/>
            <p:nvPr/>
          </p:nvSpPr>
          <p:spPr>
            <a:xfrm flipH="false" flipV="false" rot="0">
              <a:off x="0" y="0"/>
              <a:ext cx="4765840" cy="318500"/>
            </a:xfrm>
            <a:custGeom>
              <a:avLst/>
              <a:gdLst/>
              <a:ahLst/>
              <a:cxnLst/>
              <a:rect r="r" b="b" t="t" l="l"/>
              <a:pathLst>
                <a:path h="318500" w="4765840">
                  <a:moveTo>
                    <a:pt x="0" y="0"/>
                  </a:moveTo>
                  <a:lnTo>
                    <a:pt x="4765840" y="0"/>
                  </a:lnTo>
                  <a:lnTo>
                    <a:pt x="4765840" y="318500"/>
                  </a:lnTo>
                  <a:lnTo>
                    <a:pt x="0" y="318500"/>
                  </a:lnTo>
                  <a:close/>
                </a:path>
              </a:pathLst>
            </a:custGeom>
            <a:solidFill>
              <a:srgbClr val="F1F2F2"/>
            </a:solidFill>
          </p:spPr>
        </p:sp>
        <p:sp>
          <p:nvSpPr>
            <p:cNvPr name="TextBox 11" id="11"/>
            <p:cNvSpPr txBox="true"/>
            <p:nvPr/>
          </p:nvSpPr>
          <p:spPr>
            <a:xfrm>
              <a:off x="0" y="-38100"/>
              <a:ext cx="4765840" cy="356600"/>
            </a:xfrm>
            <a:prstGeom prst="rect">
              <a:avLst/>
            </a:prstGeom>
          </p:spPr>
          <p:txBody>
            <a:bodyPr anchor="ctr" rtlCol="false" tIns="50800" lIns="50800" bIns="50800" rIns="50800"/>
            <a:lstStyle/>
            <a:p>
              <a:pPr algn="ctr">
                <a:lnSpc>
                  <a:spcPts val="2659"/>
                </a:lnSpc>
                <a:spcBef>
                  <a:spcPct val="0"/>
                </a:spcBef>
              </a:pPr>
            </a:p>
          </p:txBody>
        </p:sp>
      </p:grpSp>
      <p:sp>
        <p:nvSpPr>
          <p:cNvPr name="TextBox 12" id="12"/>
          <p:cNvSpPr txBox="true"/>
          <p:nvPr/>
        </p:nvSpPr>
        <p:spPr>
          <a:xfrm rot="0">
            <a:off x="359931" y="1018391"/>
            <a:ext cx="17672470" cy="1019406"/>
          </a:xfrm>
          <a:prstGeom prst="rect">
            <a:avLst/>
          </a:prstGeom>
        </p:spPr>
        <p:txBody>
          <a:bodyPr anchor="t" rtlCol="false" tIns="0" lIns="0" bIns="0" rIns="0">
            <a:spAutoFit/>
          </a:bodyPr>
          <a:lstStyle/>
          <a:p>
            <a:pPr algn="ctr">
              <a:lnSpc>
                <a:spcPts val="4187"/>
              </a:lnSpc>
            </a:pPr>
            <a:r>
              <a:rPr lang="en-US" sz="2990">
                <a:solidFill>
                  <a:srgbClr val="000000"/>
                </a:solidFill>
                <a:latin typeface="Nunito Bold"/>
                <a:ea typeface="Nunito Bold"/>
                <a:cs typeface="Nunito Bold"/>
                <a:sym typeface="Nunito Bold"/>
              </a:rPr>
              <a:t>The Dashboard serves as the central hub of the application, providing an overview of the most recent and relevant activities.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09662" y="0"/>
            <a:ext cx="20507325" cy="10287000"/>
            <a:chOff x="0" y="0"/>
            <a:chExt cx="27343100" cy="13716000"/>
          </a:xfrm>
        </p:grpSpPr>
        <p:sp>
          <p:nvSpPr>
            <p:cNvPr name="Freeform 3" id="3"/>
            <p:cNvSpPr/>
            <p:nvPr/>
          </p:nvSpPr>
          <p:spPr>
            <a:xfrm flipH="false" flipV="false" rot="0">
              <a:off x="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62710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2116949" y="1896628"/>
            <a:ext cx="2942276" cy="2942276"/>
          </a:xfrm>
          <a:custGeom>
            <a:avLst/>
            <a:gdLst/>
            <a:ahLst/>
            <a:cxnLst/>
            <a:rect r="r" b="b" t="t" l="l"/>
            <a:pathLst>
              <a:path h="2942276" w="2942276">
                <a:moveTo>
                  <a:pt x="0" y="0"/>
                </a:moveTo>
                <a:lnTo>
                  <a:pt x="2942276" y="0"/>
                </a:lnTo>
                <a:lnTo>
                  <a:pt x="2942276" y="2942276"/>
                </a:lnTo>
                <a:lnTo>
                  <a:pt x="0" y="29422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2399945" y="6010601"/>
            <a:ext cx="3395204" cy="1049427"/>
          </a:xfrm>
          <a:custGeom>
            <a:avLst/>
            <a:gdLst/>
            <a:ahLst/>
            <a:cxnLst/>
            <a:rect r="r" b="b" t="t" l="l"/>
            <a:pathLst>
              <a:path h="1049427" w="3395204">
                <a:moveTo>
                  <a:pt x="0" y="0"/>
                </a:moveTo>
                <a:lnTo>
                  <a:pt x="3395204" y="0"/>
                </a:lnTo>
                <a:lnTo>
                  <a:pt x="3395204" y="1049427"/>
                </a:lnTo>
                <a:lnTo>
                  <a:pt x="0" y="104942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871960" y="2128300"/>
            <a:ext cx="16387340" cy="8088452"/>
          </a:xfrm>
          <a:custGeom>
            <a:avLst/>
            <a:gdLst/>
            <a:ahLst/>
            <a:cxnLst/>
            <a:rect r="r" b="b" t="t" l="l"/>
            <a:pathLst>
              <a:path h="8088452" w="16387340">
                <a:moveTo>
                  <a:pt x="0" y="0"/>
                </a:moveTo>
                <a:lnTo>
                  <a:pt x="16387340" y="0"/>
                </a:lnTo>
                <a:lnTo>
                  <a:pt x="16387340" y="8088452"/>
                </a:lnTo>
                <a:lnTo>
                  <a:pt x="0" y="8088452"/>
                </a:lnTo>
                <a:lnTo>
                  <a:pt x="0" y="0"/>
                </a:lnTo>
                <a:close/>
              </a:path>
            </a:pathLst>
          </a:custGeom>
          <a:blipFill>
            <a:blip r:embed="rId8"/>
            <a:stretch>
              <a:fillRect l="0" t="0" r="0" b="-9109"/>
            </a:stretch>
          </a:blipFill>
        </p:spPr>
      </p:sp>
      <p:sp>
        <p:nvSpPr>
          <p:cNvPr name="TextBox 8" id="8"/>
          <p:cNvSpPr txBox="true"/>
          <p:nvPr/>
        </p:nvSpPr>
        <p:spPr>
          <a:xfrm rot="0">
            <a:off x="2948668" y="-180066"/>
            <a:ext cx="12390663" cy="1208766"/>
          </a:xfrm>
          <a:prstGeom prst="rect">
            <a:avLst/>
          </a:prstGeom>
        </p:spPr>
        <p:txBody>
          <a:bodyPr anchor="t" rtlCol="false" tIns="0" lIns="0" bIns="0" rIns="0">
            <a:spAutoFit/>
          </a:bodyPr>
          <a:lstStyle/>
          <a:p>
            <a:pPr algn="ctr">
              <a:lnSpc>
                <a:spcPts val="9929"/>
              </a:lnSpc>
            </a:pPr>
            <a:r>
              <a:rPr lang="en-US" sz="7092">
                <a:solidFill>
                  <a:srgbClr val="000000"/>
                </a:solidFill>
                <a:latin typeface="Fredoka"/>
                <a:ea typeface="Fredoka"/>
                <a:cs typeface="Fredoka"/>
                <a:sym typeface="Fredoka"/>
              </a:rPr>
              <a:t>STUDENTS ACTIVITY</a:t>
            </a:r>
          </a:p>
        </p:txBody>
      </p:sp>
      <p:grpSp>
        <p:nvGrpSpPr>
          <p:cNvPr name="Group 9" id="9"/>
          <p:cNvGrpSpPr/>
          <p:nvPr/>
        </p:nvGrpSpPr>
        <p:grpSpPr>
          <a:xfrm rot="0">
            <a:off x="91852" y="1028700"/>
            <a:ext cx="18061788" cy="1029163"/>
            <a:chOff x="0" y="0"/>
            <a:chExt cx="4757014" cy="271055"/>
          </a:xfrm>
        </p:grpSpPr>
        <p:sp>
          <p:nvSpPr>
            <p:cNvPr name="Freeform 10" id="10"/>
            <p:cNvSpPr/>
            <p:nvPr/>
          </p:nvSpPr>
          <p:spPr>
            <a:xfrm flipH="false" flipV="false" rot="0">
              <a:off x="0" y="0"/>
              <a:ext cx="4757014" cy="271055"/>
            </a:xfrm>
            <a:custGeom>
              <a:avLst/>
              <a:gdLst/>
              <a:ahLst/>
              <a:cxnLst/>
              <a:rect r="r" b="b" t="t" l="l"/>
              <a:pathLst>
                <a:path h="271055" w="4757014">
                  <a:moveTo>
                    <a:pt x="0" y="0"/>
                  </a:moveTo>
                  <a:lnTo>
                    <a:pt x="4757014" y="0"/>
                  </a:lnTo>
                  <a:lnTo>
                    <a:pt x="4757014" y="271055"/>
                  </a:lnTo>
                  <a:lnTo>
                    <a:pt x="0" y="271055"/>
                  </a:lnTo>
                  <a:close/>
                </a:path>
              </a:pathLst>
            </a:custGeom>
            <a:solidFill>
              <a:srgbClr val="F1F2F2"/>
            </a:solidFill>
          </p:spPr>
        </p:sp>
        <p:sp>
          <p:nvSpPr>
            <p:cNvPr name="TextBox 11" id="11"/>
            <p:cNvSpPr txBox="true"/>
            <p:nvPr/>
          </p:nvSpPr>
          <p:spPr>
            <a:xfrm>
              <a:off x="0" y="-38100"/>
              <a:ext cx="4757014" cy="309155"/>
            </a:xfrm>
            <a:prstGeom prst="rect">
              <a:avLst/>
            </a:prstGeom>
          </p:spPr>
          <p:txBody>
            <a:bodyPr anchor="ctr" rtlCol="false" tIns="50800" lIns="50800" bIns="50800" rIns="50800"/>
            <a:lstStyle/>
            <a:p>
              <a:pPr algn="ctr">
                <a:lnSpc>
                  <a:spcPts val="2659"/>
                </a:lnSpc>
                <a:spcBef>
                  <a:spcPct val="0"/>
                </a:spcBef>
              </a:pPr>
            </a:p>
          </p:txBody>
        </p:sp>
      </p:grpSp>
      <p:sp>
        <p:nvSpPr>
          <p:cNvPr name="TextBox 12" id="12"/>
          <p:cNvSpPr txBox="true"/>
          <p:nvPr/>
        </p:nvSpPr>
        <p:spPr>
          <a:xfrm rot="0">
            <a:off x="91852" y="955241"/>
            <a:ext cx="18061788" cy="1102623"/>
          </a:xfrm>
          <a:prstGeom prst="rect">
            <a:avLst/>
          </a:prstGeom>
        </p:spPr>
        <p:txBody>
          <a:bodyPr anchor="t" rtlCol="false" tIns="0" lIns="0" bIns="0" rIns="0">
            <a:spAutoFit/>
          </a:bodyPr>
          <a:lstStyle/>
          <a:p>
            <a:pPr algn="ctr">
              <a:lnSpc>
                <a:spcPts val="4457"/>
              </a:lnSpc>
            </a:pPr>
            <a:r>
              <a:rPr lang="en-US" sz="3183">
                <a:solidFill>
                  <a:srgbClr val="000000"/>
                </a:solidFill>
                <a:latin typeface="Nunito Bold"/>
                <a:ea typeface="Nunito Bold"/>
                <a:cs typeface="Nunito Bold"/>
                <a:sym typeface="Nunito Bold"/>
              </a:rPr>
              <a:t>The Students Activity Dashboard focuses on analyzing the actions of individual students or groups of students.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09662" y="0"/>
            <a:ext cx="20507325" cy="10287000"/>
            <a:chOff x="0" y="0"/>
            <a:chExt cx="27343100" cy="13716000"/>
          </a:xfrm>
        </p:grpSpPr>
        <p:sp>
          <p:nvSpPr>
            <p:cNvPr name="Freeform 3" id="3"/>
            <p:cNvSpPr/>
            <p:nvPr/>
          </p:nvSpPr>
          <p:spPr>
            <a:xfrm flipH="false" flipV="false" rot="0">
              <a:off x="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62710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2116949" y="1896628"/>
            <a:ext cx="2942276" cy="2942276"/>
          </a:xfrm>
          <a:custGeom>
            <a:avLst/>
            <a:gdLst/>
            <a:ahLst/>
            <a:cxnLst/>
            <a:rect r="r" b="b" t="t" l="l"/>
            <a:pathLst>
              <a:path h="2942276" w="2942276">
                <a:moveTo>
                  <a:pt x="0" y="0"/>
                </a:moveTo>
                <a:lnTo>
                  <a:pt x="2942276" y="0"/>
                </a:lnTo>
                <a:lnTo>
                  <a:pt x="2942276" y="2942276"/>
                </a:lnTo>
                <a:lnTo>
                  <a:pt x="0" y="29422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2399945" y="6010601"/>
            <a:ext cx="3395204" cy="1049427"/>
          </a:xfrm>
          <a:custGeom>
            <a:avLst/>
            <a:gdLst/>
            <a:ahLst/>
            <a:cxnLst/>
            <a:rect r="r" b="b" t="t" l="l"/>
            <a:pathLst>
              <a:path h="1049427" w="3395204">
                <a:moveTo>
                  <a:pt x="0" y="0"/>
                </a:moveTo>
                <a:lnTo>
                  <a:pt x="3395204" y="0"/>
                </a:lnTo>
                <a:lnTo>
                  <a:pt x="3395204" y="1049427"/>
                </a:lnTo>
                <a:lnTo>
                  <a:pt x="0" y="104942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01367" y="1028700"/>
            <a:ext cx="17886893" cy="4649998"/>
          </a:xfrm>
          <a:custGeom>
            <a:avLst/>
            <a:gdLst/>
            <a:ahLst/>
            <a:cxnLst/>
            <a:rect r="r" b="b" t="t" l="l"/>
            <a:pathLst>
              <a:path h="4649998" w="17886893">
                <a:moveTo>
                  <a:pt x="0" y="0"/>
                </a:moveTo>
                <a:lnTo>
                  <a:pt x="17886893" y="0"/>
                </a:lnTo>
                <a:lnTo>
                  <a:pt x="17886893" y="4649998"/>
                </a:lnTo>
                <a:lnTo>
                  <a:pt x="0" y="4649998"/>
                </a:lnTo>
                <a:lnTo>
                  <a:pt x="0" y="0"/>
                </a:lnTo>
                <a:close/>
              </a:path>
            </a:pathLst>
          </a:custGeom>
          <a:blipFill>
            <a:blip r:embed="rId8"/>
            <a:stretch>
              <a:fillRect l="0" t="0" r="0" b="0"/>
            </a:stretch>
          </a:blipFill>
        </p:spPr>
      </p:sp>
      <p:sp>
        <p:nvSpPr>
          <p:cNvPr name="Freeform 8" id="8"/>
          <p:cNvSpPr/>
          <p:nvPr/>
        </p:nvSpPr>
        <p:spPr>
          <a:xfrm flipH="false" flipV="false" rot="0">
            <a:off x="6399675" y="3474147"/>
            <a:ext cx="11014023" cy="6573478"/>
          </a:xfrm>
          <a:custGeom>
            <a:avLst/>
            <a:gdLst/>
            <a:ahLst/>
            <a:cxnLst/>
            <a:rect r="r" b="b" t="t" l="l"/>
            <a:pathLst>
              <a:path h="6573478" w="11014023">
                <a:moveTo>
                  <a:pt x="0" y="0"/>
                </a:moveTo>
                <a:lnTo>
                  <a:pt x="11014023" y="0"/>
                </a:lnTo>
                <a:lnTo>
                  <a:pt x="11014023" y="6573478"/>
                </a:lnTo>
                <a:lnTo>
                  <a:pt x="0" y="6573478"/>
                </a:lnTo>
                <a:lnTo>
                  <a:pt x="0" y="0"/>
                </a:lnTo>
                <a:close/>
              </a:path>
            </a:pathLst>
          </a:custGeom>
          <a:blipFill>
            <a:blip r:embed="rId9"/>
            <a:stretch>
              <a:fillRect l="0" t="0" r="0" b="0"/>
            </a:stretch>
          </a:blipFill>
        </p:spPr>
      </p:sp>
      <p:sp>
        <p:nvSpPr>
          <p:cNvPr name="TextBox 9" id="9"/>
          <p:cNvSpPr txBox="true"/>
          <p:nvPr/>
        </p:nvSpPr>
        <p:spPr>
          <a:xfrm rot="0">
            <a:off x="2948668" y="-180066"/>
            <a:ext cx="12390663" cy="1208766"/>
          </a:xfrm>
          <a:prstGeom prst="rect">
            <a:avLst/>
          </a:prstGeom>
        </p:spPr>
        <p:txBody>
          <a:bodyPr anchor="t" rtlCol="false" tIns="0" lIns="0" bIns="0" rIns="0">
            <a:spAutoFit/>
          </a:bodyPr>
          <a:lstStyle/>
          <a:p>
            <a:pPr algn="ctr">
              <a:lnSpc>
                <a:spcPts val="9929"/>
              </a:lnSpc>
            </a:pPr>
            <a:r>
              <a:rPr lang="en-US" sz="7092">
                <a:solidFill>
                  <a:srgbClr val="000000"/>
                </a:solidFill>
                <a:latin typeface="Fredoka"/>
                <a:ea typeface="Fredoka"/>
                <a:cs typeface="Fredoka"/>
                <a:sym typeface="Fredoka"/>
              </a:rPr>
              <a:t>STUDENTS ACTIVITY</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09662" y="0"/>
            <a:ext cx="20507325" cy="10287000"/>
            <a:chOff x="0" y="0"/>
            <a:chExt cx="27343100" cy="13716000"/>
          </a:xfrm>
        </p:grpSpPr>
        <p:sp>
          <p:nvSpPr>
            <p:cNvPr name="Freeform 3" id="3"/>
            <p:cNvSpPr/>
            <p:nvPr/>
          </p:nvSpPr>
          <p:spPr>
            <a:xfrm flipH="false" flipV="false" rot="0">
              <a:off x="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62710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2116949" y="1896628"/>
            <a:ext cx="2942276" cy="2942276"/>
          </a:xfrm>
          <a:custGeom>
            <a:avLst/>
            <a:gdLst/>
            <a:ahLst/>
            <a:cxnLst/>
            <a:rect r="r" b="b" t="t" l="l"/>
            <a:pathLst>
              <a:path h="2942276" w="2942276">
                <a:moveTo>
                  <a:pt x="0" y="0"/>
                </a:moveTo>
                <a:lnTo>
                  <a:pt x="2942276" y="0"/>
                </a:lnTo>
                <a:lnTo>
                  <a:pt x="2942276" y="2942276"/>
                </a:lnTo>
                <a:lnTo>
                  <a:pt x="0" y="29422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2399945" y="6010601"/>
            <a:ext cx="3395204" cy="1049427"/>
          </a:xfrm>
          <a:custGeom>
            <a:avLst/>
            <a:gdLst/>
            <a:ahLst/>
            <a:cxnLst/>
            <a:rect r="r" b="b" t="t" l="l"/>
            <a:pathLst>
              <a:path h="1049427" w="3395204">
                <a:moveTo>
                  <a:pt x="0" y="0"/>
                </a:moveTo>
                <a:lnTo>
                  <a:pt x="3395204" y="0"/>
                </a:lnTo>
                <a:lnTo>
                  <a:pt x="3395204" y="1049427"/>
                </a:lnTo>
                <a:lnTo>
                  <a:pt x="0" y="104942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876300" y="2233283"/>
            <a:ext cx="16609169" cy="8053717"/>
          </a:xfrm>
          <a:custGeom>
            <a:avLst/>
            <a:gdLst/>
            <a:ahLst/>
            <a:cxnLst/>
            <a:rect r="r" b="b" t="t" l="l"/>
            <a:pathLst>
              <a:path h="8053717" w="16609169">
                <a:moveTo>
                  <a:pt x="0" y="0"/>
                </a:moveTo>
                <a:lnTo>
                  <a:pt x="16609169" y="0"/>
                </a:lnTo>
                <a:lnTo>
                  <a:pt x="16609169" y="8053717"/>
                </a:lnTo>
                <a:lnTo>
                  <a:pt x="0" y="8053717"/>
                </a:lnTo>
                <a:lnTo>
                  <a:pt x="0" y="0"/>
                </a:lnTo>
                <a:close/>
              </a:path>
            </a:pathLst>
          </a:custGeom>
          <a:blipFill>
            <a:blip r:embed="rId8"/>
            <a:stretch>
              <a:fillRect l="0" t="0" r="0" b="0"/>
            </a:stretch>
          </a:blipFill>
        </p:spPr>
      </p:sp>
      <p:sp>
        <p:nvSpPr>
          <p:cNvPr name="TextBox 8" id="8"/>
          <p:cNvSpPr txBox="true"/>
          <p:nvPr/>
        </p:nvSpPr>
        <p:spPr>
          <a:xfrm rot="0">
            <a:off x="2699701" y="-180066"/>
            <a:ext cx="12888599" cy="1208766"/>
          </a:xfrm>
          <a:prstGeom prst="rect">
            <a:avLst/>
          </a:prstGeom>
        </p:spPr>
        <p:txBody>
          <a:bodyPr anchor="t" rtlCol="false" tIns="0" lIns="0" bIns="0" rIns="0">
            <a:spAutoFit/>
          </a:bodyPr>
          <a:lstStyle/>
          <a:p>
            <a:pPr algn="ctr">
              <a:lnSpc>
                <a:spcPts val="9929"/>
              </a:lnSpc>
            </a:pPr>
            <a:r>
              <a:rPr lang="en-US" sz="7092">
                <a:solidFill>
                  <a:srgbClr val="000000"/>
                </a:solidFill>
                <a:latin typeface="Fredoka"/>
                <a:ea typeface="Fredoka"/>
                <a:cs typeface="Fredoka"/>
                <a:sym typeface="Fredoka"/>
              </a:rPr>
              <a:t>PROJECTS ACTIVITY</a:t>
            </a:r>
          </a:p>
        </p:txBody>
      </p:sp>
      <p:grpSp>
        <p:nvGrpSpPr>
          <p:cNvPr name="Group 9" id="9"/>
          <p:cNvGrpSpPr/>
          <p:nvPr/>
        </p:nvGrpSpPr>
        <p:grpSpPr>
          <a:xfrm rot="0">
            <a:off x="204546" y="943683"/>
            <a:ext cx="17891754" cy="1289600"/>
            <a:chOff x="0" y="0"/>
            <a:chExt cx="4712232" cy="339648"/>
          </a:xfrm>
        </p:grpSpPr>
        <p:sp>
          <p:nvSpPr>
            <p:cNvPr name="Freeform 10" id="10"/>
            <p:cNvSpPr/>
            <p:nvPr/>
          </p:nvSpPr>
          <p:spPr>
            <a:xfrm flipH="false" flipV="false" rot="0">
              <a:off x="0" y="0"/>
              <a:ext cx="4712231" cy="339648"/>
            </a:xfrm>
            <a:custGeom>
              <a:avLst/>
              <a:gdLst/>
              <a:ahLst/>
              <a:cxnLst/>
              <a:rect r="r" b="b" t="t" l="l"/>
              <a:pathLst>
                <a:path h="339648" w="4712231">
                  <a:moveTo>
                    <a:pt x="0" y="0"/>
                  </a:moveTo>
                  <a:lnTo>
                    <a:pt x="4712231" y="0"/>
                  </a:lnTo>
                  <a:lnTo>
                    <a:pt x="4712231" y="339648"/>
                  </a:lnTo>
                  <a:lnTo>
                    <a:pt x="0" y="339648"/>
                  </a:lnTo>
                  <a:close/>
                </a:path>
              </a:pathLst>
            </a:custGeom>
            <a:solidFill>
              <a:srgbClr val="F1F2F2"/>
            </a:solidFill>
          </p:spPr>
        </p:sp>
        <p:sp>
          <p:nvSpPr>
            <p:cNvPr name="TextBox 11" id="11"/>
            <p:cNvSpPr txBox="true"/>
            <p:nvPr/>
          </p:nvSpPr>
          <p:spPr>
            <a:xfrm>
              <a:off x="0" y="-38100"/>
              <a:ext cx="4712232" cy="377748"/>
            </a:xfrm>
            <a:prstGeom prst="rect">
              <a:avLst/>
            </a:prstGeom>
          </p:spPr>
          <p:txBody>
            <a:bodyPr anchor="ctr" rtlCol="false" tIns="50800" lIns="50800" bIns="50800" rIns="50800"/>
            <a:lstStyle/>
            <a:p>
              <a:pPr algn="ctr">
                <a:lnSpc>
                  <a:spcPts val="2659"/>
                </a:lnSpc>
                <a:spcBef>
                  <a:spcPct val="0"/>
                </a:spcBef>
              </a:pPr>
            </a:p>
          </p:txBody>
        </p:sp>
      </p:grpSp>
      <p:sp>
        <p:nvSpPr>
          <p:cNvPr name="TextBox 12" id="12"/>
          <p:cNvSpPr txBox="true"/>
          <p:nvPr/>
        </p:nvSpPr>
        <p:spPr>
          <a:xfrm rot="0">
            <a:off x="204546" y="1010998"/>
            <a:ext cx="17891754" cy="1097820"/>
          </a:xfrm>
          <a:prstGeom prst="rect">
            <a:avLst/>
          </a:prstGeom>
        </p:spPr>
        <p:txBody>
          <a:bodyPr anchor="t" rtlCol="false" tIns="0" lIns="0" bIns="0" rIns="0">
            <a:spAutoFit/>
          </a:bodyPr>
          <a:lstStyle/>
          <a:p>
            <a:pPr algn="ctr">
              <a:lnSpc>
                <a:spcPts val="4436"/>
              </a:lnSpc>
            </a:pPr>
            <a:r>
              <a:rPr lang="en-US" sz="3169">
                <a:solidFill>
                  <a:srgbClr val="000000"/>
                </a:solidFill>
                <a:latin typeface="Nunito Bold"/>
                <a:ea typeface="Nunito Bold"/>
                <a:cs typeface="Nunito Bold"/>
                <a:sym typeface="Nunito Bold"/>
              </a:rPr>
              <a:t>The Project Activity Dashboard provides insights into various projects managed within the system</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09662" y="0"/>
            <a:ext cx="20507325" cy="10287000"/>
            <a:chOff x="0" y="0"/>
            <a:chExt cx="27343100" cy="13716000"/>
          </a:xfrm>
        </p:grpSpPr>
        <p:sp>
          <p:nvSpPr>
            <p:cNvPr name="Freeform 3" id="3"/>
            <p:cNvSpPr/>
            <p:nvPr/>
          </p:nvSpPr>
          <p:spPr>
            <a:xfrm flipH="false" flipV="false" rot="0">
              <a:off x="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62710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2116949" y="1896628"/>
            <a:ext cx="2942276" cy="2942276"/>
          </a:xfrm>
          <a:custGeom>
            <a:avLst/>
            <a:gdLst/>
            <a:ahLst/>
            <a:cxnLst/>
            <a:rect r="r" b="b" t="t" l="l"/>
            <a:pathLst>
              <a:path h="2942276" w="2942276">
                <a:moveTo>
                  <a:pt x="0" y="0"/>
                </a:moveTo>
                <a:lnTo>
                  <a:pt x="2942276" y="0"/>
                </a:lnTo>
                <a:lnTo>
                  <a:pt x="2942276" y="2942276"/>
                </a:lnTo>
                <a:lnTo>
                  <a:pt x="0" y="29422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2399945" y="6010601"/>
            <a:ext cx="3395204" cy="1049427"/>
          </a:xfrm>
          <a:custGeom>
            <a:avLst/>
            <a:gdLst/>
            <a:ahLst/>
            <a:cxnLst/>
            <a:rect r="r" b="b" t="t" l="l"/>
            <a:pathLst>
              <a:path h="1049427" w="3395204">
                <a:moveTo>
                  <a:pt x="0" y="0"/>
                </a:moveTo>
                <a:lnTo>
                  <a:pt x="3395204" y="0"/>
                </a:lnTo>
                <a:lnTo>
                  <a:pt x="3395204" y="1049427"/>
                </a:lnTo>
                <a:lnTo>
                  <a:pt x="0" y="104942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337578" y="1229045"/>
            <a:ext cx="17612844" cy="1335167"/>
          </a:xfrm>
          <a:custGeom>
            <a:avLst/>
            <a:gdLst/>
            <a:ahLst/>
            <a:cxnLst/>
            <a:rect r="r" b="b" t="t" l="l"/>
            <a:pathLst>
              <a:path h="1335167" w="17612844">
                <a:moveTo>
                  <a:pt x="0" y="0"/>
                </a:moveTo>
                <a:lnTo>
                  <a:pt x="17612844" y="0"/>
                </a:lnTo>
                <a:lnTo>
                  <a:pt x="17612844" y="1335167"/>
                </a:lnTo>
                <a:lnTo>
                  <a:pt x="0" y="1335167"/>
                </a:lnTo>
                <a:lnTo>
                  <a:pt x="0" y="0"/>
                </a:lnTo>
                <a:close/>
              </a:path>
            </a:pathLst>
          </a:custGeom>
          <a:blipFill>
            <a:blip r:embed="rId8"/>
            <a:stretch>
              <a:fillRect l="0" t="0" r="0" b="0"/>
            </a:stretch>
          </a:blipFill>
        </p:spPr>
      </p:sp>
      <p:sp>
        <p:nvSpPr>
          <p:cNvPr name="Freeform 8" id="8"/>
          <p:cNvSpPr/>
          <p:nvPr/>
        </p:nvSpPr>
        <p:spPr>
          <a:xfrm flipH="false" flipV="false" rot="0">
            <a:off x="773649" y="3056753"/>
            <a:ext cx="6542306" cy="6719864"/>
          </a:xfrm>
          <a:custGeom>
            <a:avLst/>
            <a:gdLst/>
            <a:ahLst/>
            <a:cxnLst/>
            <a:rect r="r" b="b" t="t" l="l"/>
            <a:pathLst>
              <a:path h="6719864" w="6542306">
                <a:moveTo>
                  <a:pt x="0" y="0"/>
                </a:moveTo>
                <a:lnTo>
                  <a:pt x="6542306" y="0"/>
                </a:lnTo>
                <a:lnTo>
                  <a:pt x="6542306" y="6719863"/>
                </a:lnTo>
                <a:lnTo>
                  <a:pt x="0" y="6719863"/>
                </a:lnTo>
                <a:lnTo>
                  <a:pt x="0" y="0"/>
                </a:lnTo>
                <a:close/>
              </a:path>
            </a:pathLst>
          </a:custGeom>
          <a:blipFill>
            <a:blip r:embed="rId9"/>
            <a:stretch>
              <a:fillRect l="0" t="0" r="0" b="0"/>
            </a:stretch>
          </a:blipFill>
        </p:spPr>
      </p:sp>
      <p:sp>
        <p:nvSpPr>
          <p:cNvPr name="Freeform 9" id="9"/>
          <p:cNvSpPr/>
          <p:nvPr/>
        </p:nvSpPr>
        <p:spPr>
          <a:xfrm flipH="false" flipV="false" rot="0">
            <a:off x="7705396" y="3206213"/>
            <a:ext cx="10121016" cy="6570403"/>
          </a:xfrm>
          <a:custGeom>
            <a:avLst/>
            <a:gdLst/>
            <a:ahLst/>
            <a:cxnLst/>
            <a:rect r="r" b="b" t="t" l="l"/>
            <a:pathLst>
              <a:path h="6570403" w="10121016">
                <a:moveTo>
                  <a:pt x="0" y="0"/>
                </a:moveTo>
                <a:lnTo>
                  <a:pt x="10121017" y="0"/>
                </a:lnTo>
                <a:lnTo>
                  <a:pt x="10121017" y="6570403"/>
                </a:lnTo>
                <a:lnTo>
                  <a:pt x="0" y="6570403"/>
                </a:lnTo>
                <a:lnTo>
                  <a:pt x="0" y="0"/>
                </a:lnTo>
                <a:close/>
              </a:path>
            </a:pathLst>
          </a:custGeom>
          <a:blipFill>
            <a:blip r:embed="rId10"/>
            <a:stretch>
              <a:fillRect l="0" t="0" r="0" b="0"/>
            </a:stretch>
          </a:blipFill>
        </p:spPr>
      </p:sp>
      <p:sp>
        <p:nvSpPr>
          <p:cNvPr name="TextBox 10" id="10"/>
          <p:cNvSpPr txBox="true"/>
          <p:nvPr/>
        </p:nvSpPr>
        <p:spPr>
          <a:xfrm rot="0">
            <a:off x="2699701" y="-180066"/>
            <a:ext cx="12888599" cy="1208766"/>
          </a:xfrm>
          <a:prstGeom prst="rect">
            <a:avLst/>
          </a:prstGeom>
        </p:spPr>
        <p:txBody>
          <a:bodyPr anchor="t" rtlCol="false" tIns="0" lIns="0" bIns="0" rIns="0">
            <a:spAutoFit/>
          </a:bodyPr>
          <a:lstStyle/>
          <a:p>
            <a:pPr algn="ctr">
              <a:lnSpc>
                <a:spcPts val="9929"/>
              </a:lnSpc>
            </a:pPr>
            <a:r>
              <a:rPr lang="en-US" sz="7092">
                <a:solidFill>
                  <a:srgbClr val="000000"/>
                </a:solidFill>
                <a:latin typeface="Fredoka"/>
                <a:ea typeface="Fredoka"/>
                <a:cs typeface="Fredoka"/>
                <a:sym typeface="Fredoka"/>
              </a:rPr>
              <a:t>PROJECTS ACTIVITY</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09662" y="0"/>
            <a:ext cx="20507325" cy="10287000"/>
            <a:chOff x="0" y="0"/>
            <a:chExt cx="27343100" cy="13716000"/>
          </a:xfrm>
        </p:grpSpPr>
        <p:sp>
          <p:nvSpPr>
            <p:cNvPr name="Freeform 3" id="3"/>
            <p:cNvSpPr/>
            <p:nvPr/>
          </p:nvSpPr>
          <p:spPr>
            <a:xfrm flipH="false" flipV="false" rot="0">
              <a:off x="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62710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2116949" y="1896628"/>
            <a:ext cx="2942276" cy="2942276"/>
          </a:xfrm>
          <a:custGeom>
            <a:avLst/>
            <a:gdLst/>
            <a:ahLst/>
            <a:cxnLst/>
            <a:rect r="r" b="b" t="t" l="l"/>
            <a:pathLst>
              <a:path h="2942276" w="2942276">
                <a:moveTo>
                  <a:pt x="0" y="0"/>
                </a:moveTo>
                <a:lnTo>
                  <a:pt x="2942276" y="0"/>
                </a:lnTo>
                <a:lnTo>
                  <a:pt x="2942276" y="2942276"/>
                </a:lnTo>
                <a:lnTo>
                  <a:pt x="0" y="29422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2399945" y="6010601"/>
            <a:ext cx="3395204" cy="1049427"/>
          </a:xfrm>
          <a:custGeom>
            <a:avLst/>
            <a:gdLst/>
            <a:ahLst/>
            <a:cxnLst/>
            <a:rect r="r" b="b" t="t" l="l"/>
            <a:pathLst>
              <a:path h="1049427" w="3395204">
                <a:moveTo>
                  <a:pt x="0" y="0"/>
                </a:moveTo>
                <a:lnTo>
                  <a:pt x="3395204" y="0"/>
                </a:lnTo>
                <a:lnTo>
                  <a:pt x="3395204" y="1049427"/>
                </a:lnTo>
                <a:lnTo>
                  <a:pt x="0" y="104942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211621" y="1274437"/>
            <a:ext cx="17864757" cy="1244383"/>
          </a:xfrm>
          <a:custGeom>
            <a:avLst/>
            <a:gdLst/>
            <a:ahLst/>
            <a:cxnLst/>
            <a:rect r="r" b="b" t="t" l="l"/>
            <a:pathLst>
              <a:path h="1244383" w="17864757">
                <a:moveTo>
                  <a:pt x="0" y="0"/>
                </a:moveTo>
                <a:lnTo>
                  <a:pt x="17864758" y="0"/>
                </a:lnTo>
                <a:lnTo>
                  <a:pt x="17864758" y="1244382"/>
                </a:lnTo>
                <a:lnTo>
                  <a:pt x="0" y="1244382"/>
                </a:lnTo>
                <a:lnTo>
                  <a:pt x="0" y="0"/>
                </a:lnTo>
                <a:close/>
              </a:path>
            </a:pathLst>
          </a:custGeom>
          <a:blipFill>
            <a:blip r:embed="rId8"/>
            <a:stretch>
              <a:fillRect l="0" t="0" r="0" b="0"/>
            </a:stretch>
          </a:blipFill>
        </p:spPr>
      </p:sp>
      <p:sp>
        <p:nvSpPr>
          <p:cNvPr name="Freeform 8" id="8"/>
          <p:cNvSpPr/>
          <p:nvPr/>
        </p:nvSpPr>
        <p:spPr>
          <a:xfrm flipH="false" flipV="false" rot="0">
            <a:off x="545025" y="2978234"/>
            <a:ext cx="8216883" cy="5396888"/>
          </a:xfrm>
          <a:custGeom>
            <a:avLst/>
            <a:gdLst/>
            <a:ahLst/>
            <a:cxnLst/>
            <a:rect r="r" b="b" t="t" l="l"/>
            <a:pathLst>
              <a:path h="5396888" w="8216883">
                <a:moveTo>
                  <a:pt x="0" y="0"/>
                </a:moveTo>
                <a:lnTo>
                  <a:pt x="8216883" y="0"/>
                </a:lnTo>
                <a:lnTo>
                  <a:pt x="8216883" y="5396888"/>
                </a:lnTo>
                <a:lnTo>
                  <a:pt x="0" y="5396888"/>
                </a:lnTo>
                <a:lnTo>
                  <a:pt x="0" y="0"/>
                </a:lnTo>
                <a:close/>
              </a:path>
            </a:pathLst>
          </a:custGeom>
          <a:blipFill>
            <a:blip r:embed="rId9"/>
            <a:stretch>
              <a:fillRect l="0" t="0" r="0" b="0"/>
            </a:stretch>
          </a:blipFill>
        </p:spPr>
      </p:sp>
      <p:sp>
        <p:nvSpPr>
          <p:cNvPr name="Freeform 9" id="9"/>
          <p:cNvSpPr/>
          <p:nvPr/>
        </p:nvSpPr>
        <p:spPr>
          <a:xfrm flipH="false" flipV="false" rot="0">
            <a:off x="1028700" y="8423760"/>
            <a:ext cx="3931682" cy="1863240"/>
          </a:xfrm>
          <a:custGeom>
            <a:avLst/>
            <a:gdLst/>
            <a:ahLst/>
            <a:cxnLst/>
            <a:rect r="r" b="b" t="t" l="l"/>
            <a:pathLst>
              <a:path h="1863240" w="3931682">
                <a:moveTo>
                  <a:pt x="0" y="0"/>
                </a:moveTo>
                <a:lnTo>
                  <a:pt x="3931682" y="0"/>
                </a:lnTo>
                <a:lnTo>
                  <a:pt x="3931682" y="1863240"/>
                </a:lnTo>
                <a:lnTo>
                  <a:pt x="0" y="1863240"/>
                </a:lnTo>
                <a:lnTo>
                  <a:pt x="0" y="0"/>
                </a:lnTo>
                <a:close/>
              </a:path>
            </a:pathLst>
          </a:custGeom>
          <a:blipFill>
            <a:blip r:embed="rId10"/>
            <a:stretch>
              <a:fillRect l="0" t="0" r="0" b="0"/>
            </a:stretch>
          </a:blipFill>
        </p:spPr>
      </p:sp>
      <p:sp>
        <p:nvSpPr>
          <p:cNvPr name="Freeform 10" id="10"/>
          <p:cNvSpPr/>
          <p:nvPr/>
        </p:nvSpPr>
        <p:spPr>
          <a:xfrm flipH="false" flipV="false" rot="0">
            <a:off x="9144000" y="2978234"/>
            <a:ext cx="8679733" cy="5248435"/>
          </a:xfrm>
          <a:custGeom>
            <a:avLst/>
            <a:gdLst/>
            <a:ahLst/>
            <a:cxnLst/>
            <a:rect r="r" b="b" t="t" l="l"/>
            <a:pathLst>
              <a:path h="5248435" w="8679733">
                <a:moveTo>
                  <a:pt x="0" y="0"/>
                </a:moveTo>
                <a:lnTo>
                  <a:pt x="8679733" y="0"/>
                </a:lnTo>
                <a:lnTo>
                  <a:pt x="8679733" y="5248435"/>
                </a:lnTo>
                <a:lnTo>
                  <a:pt x="0" y="5248435"/>
                </a:lnTo>
                <a:lnTo>
                  <a:pt x="0" y="0"/>
                </a:lnTo>
                <a:close/>
              </a:path>
            </a:pathLst>
          </a:custGeom>
          <a:blipFill>
            <a:blip r:embed="rId11"/>
            <a:stretch>
              <a:fillRect l="0" t="0" r="0" b="0"/>
            </a:stretch>
          </a:blipFill>
        </p:spPr>
      </p:sp>
      <p:sp>
        <p:nvSpPr>
          <p:cNvPr name="TextBox 11" id="11"/>
          <p:cNvSpPr txBox="true"/>
          <p:nvPr/>
        </p:nvSpPr>
        <p:spPr>
          <a:xfrm rot="0">
            <a:off x="2699701" y="-180066"/>
            <a:ext cx="12888599" cy="1208766"/>
          </a:xfrm>
          <a:prstGeom prst="rect">
            <a:avLst/>
          </a:prstGeom>
        </p:spPr>
        <p:txBody>
          <a:bodyPr anchor="t" rtlCol="false" tIns="0" lIns="0" bIns="0" rIns="0">
            <a:spAutoFit/>
          </a:bodyPr>
          <a:lstStyle/>
          <a:p>
            <a:pPr algn="ctr">
              <a:lnSpc>
                <a:spcPts val="9929"/>
              </a:lnSpc>
            </a:pPr>
            <a:r>
              <a:rPr lang="en-US" sz="7092">
                <a:solidFill>
                  <a:srgbClr val="000000"/>
                </a:solidFill>
                <a:latin typeface="Fredoka"/>
                <a:ea typeface="Fredoka"/>
                <a:cs typeface="Fredoka"/>
                <a:sym typeface="Fredoka"/>
              </a:rPr>
              <a:t>PROJECTS ACTIVITY</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09662" y="0"/>
            <a:ext cx="20507325" cy="10287000"/>
            <a:chOff x="0" y="0"/>
            <a:chExt cx="27343100" cy="13716000"/>
          </a:xfrm>
        </p:grpSpPr>
        <p:sp>
          <p:nvSpPr>
            <p:cNvPr name="Freeform 3" id="3"/>
            <p:cNvSpPr/>
            <p:nvPr/>
          </p:nvSpPr>
          <p:spPr>
            <a:xfrm flipH="false" flipV="false" rot="0">
              <a:off x="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62710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2116949" y="1896628"/>
            <a:ext cx="2942276" cy="2942276"/>
          </a:xfrm>
          <a:custGeom>
            <a:avLst/>
            <a:gdLst/>
            <a:ahLst/>
            <a:cxnLst/>
            <a:rect r="r" b="b" t="t" l="l"/>
            <a:pathLst>
              <a:path h="2942276" w="2942276">
                <a:moveTo>
                  <a:pt x="0" y="0"/>
                </a:moveTo>
                <a:lnTo>
                  <a:pt x="2942276" y="0"/>
                </a:lnTo>
                <a:lnTo>
                  <a:pt x="2942276" y="2942276"/>
                </a:lnTo>
                <a:lnTo>
                  <a:pt x="0" y="29422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2399945" y="6010601"/>
            <a:ext cx="3395204" cy="1049427"/>
          </a:xfrm>
          <a:custGeom>
            <a:avLst/>
            <a:gdLst/>
            <a:ahLst/>
            <a:cxnLst/>
            <a:rect r="r" b="b" t="t" l="l"/>
            <a:pathLst>
              <a:path h="1049427" w="3395204">
                <a:moveTo>
                  <a:pt x="0" y="0"/>
                </a:moveTo>
                <a:lnTo>
                  <a:pt x="3395204" y="0"/>
                </a:lnTo>
                <a:lnTo>
                  <a:pt x="3395204" y="1049427"/>
                </a:lnTo>
                <a:lnTo>
                  <a:pt x="0" y="104942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294308" y="2736056"/>
            <a:ext cx="17797538" cy="6621040"/>
          </a:xfrm>
          <a:custGeom>
            <a:avLst/>
            <a:gdLst/>
            <a:ahLst/>
            <a:cxnLst/>
            <a:rect r="r" b="b" t="t" l="l"/>
            <a:pathLst>
              <a:path h="6621040" w="17797538">
                <a:moveTo>
                  <a:pt x="0" y="0"/>
                </a:moveTo>
                <a:lnTo>
                  <a:pt x="17797537" y="0"/>
                </a:lnTo>
                <a:lnTo>
                  <a:pt x="17797537" y="6621040"/>
                </a:lnTo>
                <a:lnTo>
                  <a:pt x="0" y="6621040"/>
                </a:lnTo>
                <a:lnTo>
                  <a:pt x="0" y="0"/>
                </a:lnTo>
                <a:close/>
              </a:path>
            </a:pathLst>
          </a:custGeom>
          <a:blipFill>
            <a:blip r:embed="rId8"/>
            <a:stretch>
              <a:fillRect l="0" t="0" r="0" b="-22501"/>
            </a:stretch>
          </a:blipFill>
        </p:spPr>
      </p:sp>
      <p:sp>
        <p:nvSpPr>
          <p:cNvPr name="TextBox 8" id="8"/>
          <p:cNvSpPr txBox="true"/>
          <p:nvPr/>
        </p:nvSpPr>
        <p:spPr>
          <a:xfrm rot="0">
            <a:off x="2948668" y="-133350"/>
            <a:ext cx="12390663" cy="1208842"/>
          </a:xfrm>
          <a:prstGeom prst="rect">
            <a:avLst/>
          </a:prstGeom>
        </p:spPr>
        <p:txBody>
          <a:bodyPr anchor="t" rtlCol="false" tIns="0" lIns="0" bIns="0" rIns="0">
            <a:spAutoFit/>
          </a:bodyPr>
          <a:lstStyle/>
          <a:p>
            <a:pPr algn="ctr">
              <a:lnSpc>
                <a:spcPts val="9929"/>
              </a:lnSpc>
            </a:pPr>
            <a:r>
              <a:rPr lang="en-US" sz="7092">
                <a:solidFill>
                  <a:srgbClr val="000000"/>
                </a:solidFill>
                <a:latin typeface="Fredoka"/>
                <a:ea typeface="Fredoka"/>
                <a:cs typeface="Fredoka"/>
                <a:sym typeface="Fredoka"/>
              </a:rPr>
              <a:t>FAQ DASHBOARD</a:t>
            </a:r>
          </a:p>
        </p:txBody>
      </p:sp>
      <p:grpSp>
        <p:nvGrpSpPr>
          <p:cNvPr name="Group 9" id="9"/>
          <p:cNvGrpSpPr/>
          <p:nvPr/>
        </p:nvGrpSpPr>
        <p:grpSpPr>
          <a:xfrm rot="0">
            <a:off x="205208" y="1028700"/>
            <a:ext cx="17934263" cy="1433528"/>
            <a:chOff x="0" y="0"/>
            <a:chExt cx="4723427" cy="377555"/>
          </a:xfrm>
        </p:grpSpPr>
        <p:sp>
          <p:nvSpPr>
            <p:cNvPr name="Freeform 10" id="10"/>
            <p:cNvSpPr/>
            <p:nvPr/>
          </p:nvSpPr>
          <p:spPr>
            <a:xfrm flipH="false" flipV="false" rot="0">
              <a:off x="0" y="0"/>
              <a:ext cx="4723427" cy="377555"/>
            </a:xfrm>
            <a:custGeom>
              <a:avLst/>
              <a:gdLst/>
              <a:ahLst/>
              <a:cxnLst/>
              <a:rect r="r" b="b" t="t" l="l"/>
              <a:pathLst>
                <a:path h="377555" w="4723427">
                  <a:moveTo>
                    <a:pt x="0" y="0"/>
                  </a:moveTo>
                  <a:lnTo>
                    <a:pt x="4723427" y="0"/>
                  </a:lnTo>
                  <a:lnTo>
                    <a:pt x="4723427" y="377555"/>
                  </a:lnTo>
                  <a:lnTo>
                    <a:pt x="0" y="377555"/>
                  </a:lnTo>
                  <a:close/>
                </a:path>
              </a:pathLst>
            </a:custGeom>
            <a:solidFill>
              <a:srgbClr val="F1F2F2"/>
            </a:solidFill>
          </p:spPr>
        </p:sp>
        <p:sp>
          <p:nvSpPr>
            <p:cNvPr name="TextBox 11" id="11"/>
            <p:cNvSpPr txBox="true"/>
            <p:nvPr/>
          </p:nvSpPr>
          <p:spPr>
            <a:xfrm>
              <a:off x="0" y="-38100"/>
              <a:ext cx="4723427" cy="415655"/>
            </a:xfrm>
            <a:prstGeom prst="rect">
              <a:avLst/>
            </a:prstGeom>
          </p:spPr>
          <p:txBody>
            <a:bodyPr anchor="ctr" rtlCol="false" tIns="50800" lIns="50800" bIns="50800" rIns="50800"/>
            <a:lstStyle/>
            <a:p>
              <a:pPr algn="ctr">
                <a:lnSpc>
                  <a:spcPts val="2659"/>
                </a:lnSpc>
                <a:spcBef>
                  <a:spcPct val="0"/>
                </a:spcBef>
              </a:pPr>
            </a:p>
          </p:txBody>
        </p:sp>
      </p:grpSp>
      <p:sp>
        <p:nvSpPr>
          <p:cNvPr name="TextBox 12" id="12"/>
          <p:cNvSpPr txBox="true"/>
          <p:nvPr/>
        </p:nvSpPr>
        <p:spPr>
          <a:xfrm rot="0">
            <a:off x="294308" y="1101132"/>
            <a:ext cx="17797538" cy="1221989"/>
          </a:xfrm>
          <a:prstGeom prst="rect">
            <a:avLst/>
          </a:prstGeom>
        </p:spPr>
        <p:txBody>
          <a:bodyPr anchor="t" rtlCol="false" tIns="0" lIns="0" bIns="0" rIns="0">
            <a:spAutoFit/>
          </a:bodyPr>
          <a:lstStyle/>
          <a:p>
            <a:pPr algn="ctr">
              <a:lnSpc>
                <a:spcPts val="4925"/>
              </a:lnSpc>
            </a:pPr>
            <a:r>
              <a:rPr lang="en-US" sz="3518">
                <a:solidFill>
                  <a:srgbClr val="000000"/>
                </a:solidFill>
                <a:latin typeface="Nunito Bold"/>
                <a:ea typeface="Nunito Bold"/>
                <a:cs typeface="Nunito Bold"/>
                <a:sym typeface="Nunito Bold"/>
              </a:rPr>
              <a:t>The FAQ Page is designed to assist users with common questions and troubleshooting.</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09662" y="0"/>
            <a:ext cx="20507325" cy="10287000"/>
            <a:chOff x="0" y="0"/>
            <a:chExt cx="27343100" cy="13716000"/>
          </a:xfrm>
        </p:grpSpPr>
        <p:sp>
          <p:nvSpPr>
            <p:cNvPr name="Freeform 3" id="3"/>
            <p:cNvSpPr/>
            <p:nvPr/>
          </p:nvSpPr>
          <p:spPr>
            <a:xfrm flipH="false" flipV="false" rot="0">
              <a:off x="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62710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2116949" y="1896628"/>
            <a:ext cx="2942276" cy="2942276"/>
          </a:xfrm>
          <a:custGeom>
            <a:avLst/>
            <a:gdLst/>
            <a:ahLst/>
            <a:cxnLst/>
            <a:rect r="r" b="b" t="t" l="l"/>
            <a:pathLst>
              <a:path h="2942276" w="2942276">
                <a:moveTo>
                  <a:pt x="0" y="0"/>
                </a:moveTo>
                <a:lnTo>
                  <a:pt x="2942276" y="0"/>
                </a:lnTo>
                <a:lnTo>
                  <a:pt x="2942276" y="2942276"/>
                </a:lnTo>
                <a:lnTo>
                  <a:pt x="0" y="29422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2399945" y="6010601"/>
            <a:ext cx="3395204" cy="1049427"/>
          </a:xfrm>
          <a:custGeom>
            <a:avLst/>
            <a:gdLst/>
            <a:ahLst/>
            <a:cxnLst/>
            <a:rect r="r" b="b" t="t" l="l"/>
            <a:pathLst>
              <a:path h="1049427" w="3395204">
                <a:moveTo>
                  <a:pt x="0" y="0"/>
                </a:moveTo>
                <a:lnTo>
                  <a:pt x="3395204" y="0"/>
                </a:lnTo>
                <a:lnTo>
                  <a:pt x="3395204" y="1049427"/>
                </a:lnTo>
                <a:lnTo>
                  <a:pt x="0" y="104942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2948668" y="-133350"/>
            <a:ext cx="12390663" cy="1208766"/>
          </a:xfrm>
          <a:prstGeom prst="rect">
            <a:avLst/>
          </a:prstGeom>
        </p:spPr>
        <p:txBody>
          <a:bodyPr anchor="t" rtlCol="false" tIns="0" lIns="0" bIns="0" rIns="0">
            <a:spAutoFit/>
          </a:bodyPr>
          <a:lstStyle/>
          <a:p>
            <a:pPr algn="ctr">
              <a:lnSpc>
                <a:spcPts val="9929"/>
              </a:lnSpc>
            </a:pPr>
            <a:r>
              <a:rPr lang="en-US" sz="7092">
                <a:solidFill>
                  <a:srgbClr val="000000"/>
                </a:solidFill>
                <a:latin typeface="Fredoka"/>
                <a:ea typeface="Fredoka"/>
                <a:cs typeface="Fredoka"/>
                <a:sym typeface="Fredoka"/>
              </a:rPr>
              <a:t>CHATBOT</a:t>
            </a:r>
          </a:p>
        </p:txBody>
      </p:sp>
      <p:grpSp>
        <p:nvGrpSpPr>
          <p:cNvPr name="Group 8" id="8"/>
          <p:cNvGrpSpPr/>
          <p:nvPr/>
        </p:nvGrpSpPr>
        <p:grpSpPr>
          <a:xfrm rot="0">
            <a:off x="205208" y="1028700"/>
            <a:ext cx="17934263" cy="1433528"/>
            <a:chOff x="0" y="0"/>
            <a:chExt cx="4723427" cy="377555"/>
          </a:xfrm>
        </p:grpSpPr>
        <p:sp>
          <p:nvSpPr>
            <p:cNvPr name="Freeform 9" id="9"/>
            <p:cNvSpPr/>
            <p:nvPr/>
          </p:nvSpPr>
          <p:spPr>
            <a:xfrm flipH="false" flipV="false" rot="0">
              <a:off x="0" y="0"/>
              <a:ext cx="4723427" cy="377555"/>
            </a:xfrm>
            <a:custGeom>
              <a:avLst/>
              <a:gdLst/>
              <a:ahLst/>
              <a:cxnLst/>
              <a:rect r="r" b="b" t="t" l="l"/>
              <a:pathLst>
                <a:path h="377555" w="4723427">
                  <a:moveTo>
                    <a:pt x="0" y="0"/>
                  </a:moveTo>
                  <a:lnTo>
                    <a:pt x="4723427" y="0"/>
                  </a:lnTo>
                  <a:lnTo>
                    <a:pt x="4723427" y="377555"/>
                  </a:lnTo>
                  <a:lnTo>
                    <a:pt x="0" y="377555"/>
                  </a:lnTo>
                  <a:close/>
                </a:path>
              </a:pathLst>
            </a:custGeom>
            <a:solidFill>
              <a:srgbClr val="F1F2F2"/>
            </a:solidFill>
          </p:spPr>
        </p:sp>
        <p:sp>
          <p:nvSpPr>
            <p:cNvPr name="TextBox 10" id="10"/>
            <p:cNvSpPr txBox="true"/>
            <p:nvPr/>
          </p:nvSpPr>
          <p:spPr>
            <a:xfrm>
              <a:off x="0" y="-38100"/>
              <a:ext cx="4723427" cy="415655"/>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225945" y="3110088"/>
            <a:ext cx="17934263" cy="4796736"/>
          </a:xfrm>
          <a:custGeom>
            <a:avLst/>
            <a:gdLst/>
            <a:ahLst/>
            <a:cxnLst/>
            <a:rect r="r" b="b" t="t" l="l"/>
            <a:pathLst>
              <a:path h="4796736" w="17934263">
                <a:moveTo>
                  <a:pt x="0" y="0"/>
                </a:moveTo>
                <a:lnTo>
                  <a:pt x="17934263" y="0"/>
                </a:lnTo>
                <a:lnTo>
                  <a:pt x="17934263" y="4796736"/>
                </a:lnTo>
                <a:lnTo>
                  <a:pt x="0" y="4796736"/>
                </a:lnTo>
                <a:lnTo>
                  <a:pt x="0" y="0"/>
                </a:lnTo>
                <a:close/>
              </a:path>
            </a:pathLst>
          </a:custGeom>
          <a:blipFill>
            <a:blip r:embed="rId8"/>
            <a:stretch>
              <a:fillRect l="0" t="0" r="0" b="-295"/>
            </a:stretch>
          </a:blipFill>
        </p:spPr>
      </p:sp>
      <p:sp>
        <p:nvSpPr>
          <p:cNvPr name="TextBox 12" id="12"/>
          <p:cNvSpPr txBox="true"/>
          <p:nvPr/>
        </p:nvSpPr>
        <p:spPr>
          <a:xfrm rot="0">
            <a:off x="294308" y="1333579"/>
            <a:ext cx="17797538" cy="738044"/>
          </a:xfrm>
          <a:prstGeom prst="rect">
            <a:avLst/>
          </a:prstGeom>
        </p:spPr>
        <p:txBody>
          <a:bodyPr anchor="t" rtlCol="false" tIns="0" lIns="0" bIns="0" rIns="0">
            <a:spAutoFit/>
          </a:bodyPr>
          <a:lstStyle/>
          <a:p>
            <a:pPr algn="ctr">
              <a:lnSpc>
                <a:spcPts val="6045"/>
              </a:lnSpc>
            </a:pPr>
            <a:r>
              <a:rPr lang="en-US" sz="4318">
                <a:solidFill>
                  <a:srgbClr val="000000"/>
                </a:solidFill>
                <a:latin typeface="Nunito Bold"/>
                <a:ea typeface="Nunito Bold"/>
                <a:cs typeface="Nunito Bold"/>
                <a:sym typeface="Nunito Bold"/>
              </a:rPr>
              <a:t>Interactive chat</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09662" y="0"/>
            <a:ext cx="20507325" cy="10287000"/>
            <a:chOff x="0" y="0"/>
            <a:chExt cx="27343100" cy="13716000"/>
          </a:xfrm>
        </p:grpSpPr>
        <p:sp>
          <p:nvSpPr>
            <p:cNvPr name="Freeform 3" id="3"/>
            <p:cNvSpPr/>
            <p:nvPr/>
          </p:nvSpPr>
          <p:spPr>
            <a:xfrm flipH="false" flipV="false" rot="0">
              <a:off x="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62710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1452123" y="2957390"/>
            <a:ext cx="15383753" cy="5254628"/>
            <a:chOff x="0" y="0"/>
            <a:chExt cx="4051688" cy="1383935"/>
          </a:xfrm>
        </p:grpSpPr>
        <p:sp>
          <p:nvSpPr>
            <p:cNvPr name="Freeform 6" id="6"/>
            <p:cNvSpPr/>
            <p:nvPr/>
          </p:nvSpPr>
          <p:spPr>
            <a:xfrm flipH="false" flipV="false" rot="0">
              <a:off x="0" y="0"/>
              <a:ext cx="4051688" cy="1383935"/>
            </a:xfrm>
            <a:custGeom>
              <a:avLst/>
              <a:gdLst/>
              <a:ahLst/>
              <a:cxnLst/>
              <a:rect r="r" b="b" t="t" l="l"/>
              <a:pathLst>
                <a:path h="1383935" w="4051688">
                  <a:moveTo>
                    <a:pt x="0" y="0"/>
                  </a:moveTo>
                  <a:lnTo>
                    <a:pt x="4051688" y="0"/>
                  </a:lnTo>
                  <a:lnTo>
                    <a:pt x="4051688" y="1383935"/>
                  </a:lnTo>
                  <a:lnTo>
                    <a:pt x="0" y="1383935"/>
                  </a:lnTo>
                  <a:close/>
                </a:path>
              </a:pathLst>
            </a:custGeom>
            <a:solidFill>
              <a:srgbClr val="F1F2F2"/>
            </a:solidFill>
          </p:spPr>
        </p:sp>
        <p:sp>
          <p:nvSpPr>
            <p:cNvPr name="TextBox 7" id="7"/>
            <p:cNvSpPr txBox="true"/>
            <p:nvPr/>
          </p:nvSpPr>
          <p:spPr>
            <a:xfrm>
              <a:off x="0" y="-38100"/>
              <a:ext cx="4051688" cy="1422035"/>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5139012" y="687305"/>
            <a:ext cx="8009976" cy="1730229"/>
            <a:chOff x="0" y="0"/>
            <a:chExt cx="2109623" cy="455698"/>
          </a:xfrm>
        </p:grpSpPr>
        <p:sp>
          <p:nvSpPr>
            <p:cNvPr name="Freeform 9" id="9"/>
            <p:cNvSpPr/>
            <p:nvPr/>
          </p:nvSpPr>
          <p:spPr>
            <a:xfrm flipH="false" flipV="false" rot="0">
              <a:off x="0" y="0"/>
              <a:ext cx="2109623" cy="455698"/>
            </a:xfrm>
            <a:custGeom>
              <a:avLst/>
              <a:gdLst/>
              <a:ahLst/>
              <a:cxnLst/>
              <a:rect r="r" b="b" t="t" l="l"/>
              <a:pathLst>
                <a:path h="455698" w="2109623">
                  <a:moveTo>
                    <a:pt x="0" y="0"/>
                  </a:moveTo>
                  <a:lnTo>
                    <a:pt x="2109623" y="0"/>
                  </a:lnTo>
                  <a:lnTo>
                    <a:pt x="2109623" y="455698"/>
                  </a:lnTo>
                  <a:lnTo>
                    <a:pt x="0" y="455698"/>
                  </a:lnTo>
                  <a:close/>
                </a:path>
              </a:pathLst>
            </a:custGeom>
            <a:solidFill>
              <a:srgbClr val="DDDEDE"/>
            </a:solidFill>
            <a:ln w="38100" cap="sq">
              <a:solidFill>
                <a:srgbClr val="F1F2F2"/>
              </a:solidFill>
              <a:prstDash val="solid"/>
              <a:miter/>
            </a:ln>
          </p:spPr>
        </p:sp>
        <p:sp>
          <p:nvSpPr>
            <p:cNvPr name="TextBox 10" id="10"/>
            <p:cNvSpPr txBox="true"/>
            <p:nvPr/>
          </p:nvSpPr>
          <p:spPr>
            <a:xfrm>
              <a:off x="0" y="-38100"/>
              <a:ext cx="2109623" cy="493798"/>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576611" y="8801100"/>
            <a:ext cx="19974273" cy="1861295"/>
            <a:chOff x="0" y="0"/>
            <a:chExt cx="5260714" cy="490218"/>
          </a:xfrm>
        </p:grpSpPr>
        <p:sp>
          <p:nvSpPr>
            <p:cNvPr name="Freeform 12" id="12"/>
            <p:cNvSpPr/>
            <p:nvPr/>
          </p:nvSpPr>
          <p:spPr>
            <a:xfrm flipH="false" flipV="false" rot="0">
              <a:off x="0" y="0"/>
              <a:ext cx="5260714" cy="490218"/>
            </a:xfrm>
            <a:custGeom>
              <a:avLst/>
              <a:gdLst/>
              <a:ahLst/>
              <a:cxnLst/>
              <a:rect r="r" b="b" t="t" l="l"/>
              <a:pathLst>
                <a:path h="490218" w="5260714">
                  <a:moveTo>
                    <a:pt x="0" y="0"/>
                  </a:moveTo>
                  <a:lnTo>
                    <a:pt x="5260714" y="0"/>
                  </a:lnTo>
                  <a:lnTo>
                    <a:pt x="5260714" y="490218"/>
                  </a:lnTo>
                  <a:lnTo>
                    <a:pt x="0" y="490218"/>
                  </a:lnTo>
                  <a:close/>
                </a:path>
              </a:pathLst>
            </a:custGeom>
            <a:solidFill>
              <a:srgbClr val="F1F2F2"/>
            </a:solidFill>
          </p:spPr>
        </p:sp>
        <p:sp>
          <p:nvSpPr>
            <p:cNvPr name="TextBox 13" id="13"/>
            <p:cNvSpPr txBox="true"/>
            <p:nvPr/>
          </p:nvSpPr>
          <p:spPr>
            <a:xfrm>
              <a:off x="0" y="-38100"/>
              <a:ext cx="5260714" cy="528318"/>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true" flipV="false" rot="-1536545">
            <a:off x="16487867" y="-61854"/>
            <a:ext cx="2537840" cy="2297899"/>
          </a:xfrm>
          <a:custGeom>
            <a:avLst/>
            <a:gdLst/>
            <a:ahLst/>
            <a:cxnLst/>
            <a:rect r="r" b="b" t="t" l="l"/>
            <a:pathLst>
              <a:path h="2297899" w="2537840">
                <a:moveTo>
                  <a:pt x="2537840" y="0"/>
                </a:moveTo>
                <a:lnTo>
                  <a:pt x="0" y="0"/>
                </a:lnTo>
                <a:lnTo>
                  <a:pt x="0" y="2297898"/>
                </a:lnTo>
                <a:lnTo>
                  <a:pt x="2537840" y="2297898"/>
                </a:lnTo>
                <a:lnTo>
                  <a:pt x="253784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5" id="15"/>
          <p:cNvSpPr txBox="true"/>
          <p:nvPr/>
        </p:nvSpPr>
        <p:spPr>
          <a:xfrm rot="0">
            <a:off x="4543721" y="904875"/>
            <a:ext cx="9200557" cy="1125710"/>
          </a:xfrm>
          <a:prstGeom prst="rect">
            <a:avLst/>
          </a:prstGeom>
        </p:spPr>
        <p:txBody>
          <a:bodyPr anchor="t" rtlCol="false" tIns="0" lIns="0" bIns="0" rIns="0">
            <a:spAutoFit/>
          </a:bodyPr>
          <a:lstStyle/>
          <a:p>
            <a:pPr algn="ctr">
              <a:lnSpc>
                <a:spcPts val="9250"/>
              </a:lnSpc>
            </a:pPr>
            <a:r>
              <a:rPr lang="en-US" sz="6607">
                <a:solidFill>
                  <a:srgbClr val="000000"/>
                </a:solidFill>
                <a:latin typeface="Fredoka"/>
                <a:ea typeface="Fredoka"/>
                <a:cs typeface="Fredoka"/>
                <a:sym typeface="Fredoka"/>
              </a:rPr>
              <a:t>CHATBOT </a:t>
            </a:r>
          </a:p>
        </p:txBody>
      </p:sp>
      <p:sp>
        <p:nvSpPr>
          <p:cNvPr name="TextBox 16" id="16"/>
          <p:cNvSpPr txBox="true"/>
          <p:nvPr/>
        </p:nvSpPr>
        <p:spPr>
          <a:xfrm rot="0">
            <a:off x="1901160" y="3229507"/>
            <a:ext cx="14485680" cy="4615146"/>
          </a:xfrm>
          <a:prstGeom prst="rect">
            <a:avLst/>
          </a:prstGeom>
        </p:spPr>
        <p:txBody>
          <a:bodyPr anchor="t" rtlCol="false" tIns="0" lIns="0" bIns="0" rIns="0">
            <a:spAutoFit/>
          </a:bodyPr>
          <a:lstStyle/>
          <a:p>
            <a:pPr algn="l">
              <a:lnSpc>
                <a:spcPts val="7365"/>
              </a:lnSpc>
            </a:pPr>
            <a:r>
              <a:rPr lang="en-US" sz="5261">
                <a:solidFill>
                  <a:srgbClr val="000000"/>
                </a:solidFill>
                <a:latin typeface="Nunito Bold"/>
                <a:ea typeface="Nunito Bold"/>
                <a:cs typeface="Nunito Bold"/>
                <a:sym typeface="Nunito Bold"/>
              </a:rPr>
              <a:t>Interactive chat interface designed for OnShape project managers, enabling real-time data management through a user-friendly, responsive design that enhances project oversight and decision-making.</a:t>
            </a:r>
          </a:p>
        </p:txBody>
      </p:sp>
      <p:sp>
        <p:nvSpPr>
          <p:cNvPr name="Freeform 17" id="17"/>
          <p:cNvSpPr/>
          <p:nvPr/>
        </p:nvSpPr>
        <p:spPr>
          <a:xfrm flipH="true" flipV="false" rot="9999176">
            <a:off x="-1316676" y="1716564"/>
            <a:ext cx="2537840" cy="2297899"/>
          </a:xfrm>
          <a:custGeom>
            <a:avLst/>
            <a:gdLst/>
            <a:ahLst/>
            <a:cxnLst/>
            <a:rect r="r" b="b" t="t" l="l"/>
            <a:pathLst>
              <a:path h="2297899" w="2537840">
                <a:moveTo>
                  <a:pt x="2537840" y="0"/>
                </a:moveTo>
                <a:lnTo>
                  <a:pt x="0" y="0"/>
                </a:lnTo>
                <a:lnTo>
                  <a:pt x="0" y="2297898"/>
                </a:lnTo>
                <a:lnTo>
                  <a:pt x="2537840" y="2297898"/>
                </a:lnTo>
                <a:lnTo>
                  <a:pt x="253784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09662" y="0"/>
            <a:ext cx="20507325" cy="10287000"/>
            <a:chOff x="0" y="0"/>
            <a:chExt cx="27343100" cy="13716000"/>
          </a:xfrm>
        </p:grpSpPr>
        <p:sp>
          <p:nvSpPr>
            <p:cNvPr name="Freeform 3" id="3"/>
            <p:cNvSpPr/>
            <p:nvPr/>
          </p:nvSpPr>
          <p:spPr>
            <a:xfrm flipH="false" flipV="false" rot="0">
              <a:off x="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62710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12399945" y="6010601"/>
            <a:ext cx="3395204" cy="1049427"/>
          </a:xfrm>
          <a:custGeom>
            <a:avLst/>
            <a:gdLst/>
            <a:ahLst/>
            <a:cxnLst/>
            <a:rect r="r" b="b" t="t" l="l"/>
            <a:pathLst>
              <a:path h="1049427" w="3395204">
                <a:moveTo>
                  <a:pt x="0" y="0"/>
                </a:moveTo>
                <a:lnTo>
                  <a:pt x="3395204" y="0"/>
                </a:lnTo>
                <a:lnTo>
                  <a:pt x="3395204" y="1049427"/>
                </a:lnTo>
                <a:lnTo>
                  <a:pt x="0" y="104942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740497" y="3367766"/>
            <a:ext cx="16807006" cy="4467685"/>
          </a:xfrm>
          <a:custGeom>
            <a:avLst/>
            <a:gdLst/>
            <a:ahLst/>
            <a:cxnLst/>
            <a:rect r="r" b="b" t="t" l="l"/>
            <a:pathLst>
              <a:path h="4467685" w="16807006">
                <a:moveTo>
                  <a:pt x="0" y="0"/>
                </a:moveTo>
                <a:lnTo>
                  <a:pt x="16807006" y="0"/>
                </a:lnTo>
                <a:lnTo>
                  <a:pt x="16807006" y="4467685"/>
                </a:lnTo>
                <a:lnTo>
                  <a:pt x="0" y="4467685"/>
                </a:lnTo>
                <a:lnTo>
                  <a:pt x="0" y="0"/>
                </a:lnTo>
                <a:close/>
              </a:path>
            </a:pathLst>
          </a:custGeom>
          <a:blipFill>
            <a:blip r:embed="rId6"/>
            <a:stretch>
              <a:fillRect l="0" t="0" r="0" b="0"/>
            </a:stretch>
          </a:blipFill>
        </p:spPr>
      </p:sp>
      <p:sp>
        <p:nvSpPr>
          <p:cNvPr name="TextBox 7" id="7"/>
          <p:cNvSpPr txBox="true"/>
          <p:nvPr/>
        </p:nvSpPr>
        <p:spPr>
          <a:xfrm rot="0">
            <a:off x="-2089859" y="86372"/>
            <a:ext cx="12390663" cy="1208842"/>
          </a:xfrm>
          <a:prstGeom prst="rect">
            <a:avLst/>
          </a:prstGeom>
        </p:spPr>
        <p:txBody>
          <a:bodyPr anchor="t" rtlCol="false" tIns="0" lIns="0" bIns="0" rIns="0">
            <a:spAutoFit/>
          </a:bodyPr>
          <a:lstStyle/>
          <a:p>
            <a:pPr algn="ctr">
              <a:lnSpc>
                <a:spcPts val="9929"/>
              </a:lnSpc>
            </a:pPr>
            <a:r>
              <a:rPr lang="en-US" sz="7092">
                <a:solidFill>
                  <a:srgbClr val="000000"/>
                </a:solidFill>
                <a:latin typeface="Fredoka"/>
                <a:ea typeface="Fredoka"/>
                <a:cs typeface="Fredoka"/>
                <a:sym typeface="Fredoka"/>
              </a:rPr>
              <a:t>CHAT BOT</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09662" y="0"/>
            <a:ext cx="20507325" cy="10287000"/>
            <a:chOff x="0" y="0"/>
            <a:chExt cx="27343100" cy="13716000"/>
          </a:xfrm>
        </p:grpSpPr>
        <p:sp>
          <p:nvSpPr>
            <p:cNvPr name="Freeform 3" id="3"/>
            <p:cNvSpPr/>
            <p:nvPr/>
          </p:nvSpPr>
          <p:spPr>
            <a:xfrm flipH="false" flipV="false" rot="0">
              <a:off x="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62710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296667" y="687305"/>
            <a:ext cx="1949375" cy="1949375"/>
          </a:xfrm>
          <a:custGeom>
            <a:avLst/>
            <a:gdLst/>
            <a:ahLst/>
            <a:cxnLst/>
            <a:rect r="r" b="b" t="t" l="l"/>
            <a:pathLst>
              <a:path h="1949375" w="1949375">
                <a:moveTo>
                  <a:pt x="0" y="0"/>
                </a:moveTo>
                <a:lnTo>
                  <a:pt x="1949375" y="0"/>
                </a:lnTo>
                <a:lnTo>
                  <a:pt x="1949375" y="1949375"/>
                </a:lnTo>
                <a:lnTo>
                  <a:pt x="0" y="19493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1028700" y="1552420"/>
            <a:ext cx="16230600" cy="6382179"/>
            <a:chOff x="0" y="0"/>
            <a:chExt cx="4274726" cy="1680903"/>
          </a:xfrm>
        </p:grpSpPr>
        <p:sp>
          <p:nvSpPr>
            <p:cNvPr name="Freeform 7" id="7"/>
            <p:cNvSpPr/>
            <p:nvPr/>
          </p:nvSpPr>
          <p:spPr>
            <a:xfrm flipH="false" flipV="false" rot="0">
              <a:off x="0" y="0"/>
              <a:ext cx="4274726" cy="1680903"/>
            </a:xfrm>
            <a:custGeom>
              <a:avLst/>
              <a:gdLst/>
              <a:ahLst/>
              <a:cxnLst/>
              <a:rect r="r" b="b" t="t" l="l"/>
              <a:pathLst>
                <a:path h="1680903" w="4274726">
                  <a:moveTo>
                    <a:pt x="0" y="0"/>
                  </a:moveTo>
                  <a:lnTo>
                    <a:pt x="4274726" y="0"/>
                  </a:lnTo>
                  <a:lnTo>
                    <a:pt x="4274726" y="1680903"/>
                  </a:lnTo>
                  <a:lnTo>
                    <a:pt x="0" y="1680903"/>
                  </a:lnTo>
                  <a:close/>
                </a:path>
              </a:pathLst>
            </a:custGeom>
            <a:solidFill>
              <a:srgbClr val="F1F2F2"/>
            </a:solidFill>
          </p:spPr>
        </p:sp>
        <p:sp>
          <p:nvSpPr>
            <p:cNvPr name="TextBox 8" id="8"/>
            <p:cNvSpPr txBox="true"/>
            <p:nvPr/>
          </p:nvSpPr>
          <p:spPr>
            <a:xfrm>
              <a:off x="0" y="-38100"/>
              <a:ext cx="4274726" cy="1719003"/>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4272999" y="687305"/>
            <a:ext cx="9742003" cy="1730229"/>
            <a:chOff x="0" y="0"/>
            <a:chExt cx="2565795" cy="455698"/>
          </a:xfrm>
        </p:grpSpPr>
        <p:sp>
          <p:nvSpPr>
            <p:cNvPr name="Freeform 10" id="10"/>
            <p:cNvSpPr/>
            <p:nvPr/>
          </p:nvSpPr>
          <p:spPr>
            <a:xfrm flipH="false" flipV="false" rot="0">
              <a:off x="0" y="0"/>
              <a:ext cx="2565795" cy="455698"/>
            </a:xfrm>
            <a:custGeom>
              <a:avLst/>
              <a:gdLst/>
              <a:ahLst/>
              <a:cxnLst/>
              <a:rect r="r" b="b" t="t" l="l"/>
              <a:pathLst>
                <a:path h="455698" w="2565795">
                  <a:moveTo>
                    <a:pt x="0" y="0"/>
                  </a:moveTo>
                  <a:lnTo>
                    <a:pt x="2565795" y="0"/>
                  </a:lnTo>
                  <a:lnTo>
                    <a:pt x="2565795" y="455698"/>
                  </a:lnTo>
                  <a:lnTo>
                    <a:pt x="0" y="455698"/>
                  </a:lnTo>
                  <a:close/>
                </a:path>
              </a:pathLst>
            </a:custGeom>
            <a:solidFill>
              <a:srgbClr val="DDDEDE"/>
            </a:solidFill>
            <a:ln w="38100" cap="sq">
              <a:solidFill>
                <a:srgbClr val="F1F2F2"/>
              </a:solidFill>
              <a:prstDash val="solid"/>
              <a:miter/>
            </a:ln>
          </p:spPr>
        </p:sp>
        <p:sp>
          <p:nvSpPr>
            <p:cNvPr name="TextBox 11" id="11"/>
            <p:cNvSpPr txBox="true"/>
            <p:nvPr/>
          </p:nvSpPr>
          <p:spPr>
            <a:xfrm>
              <a:off x="0" y="-38100"/>
              <a:ext cx="2565795" cy="493798"/>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576611" y="8801100"/>
            <a:ext cx="19974273" cy="1861295"/>
            <a:chOff x="0" y="0"/>
            <a:chExt cx="5260714" cy="490218"/>
          </a:xfrm>
        </p:grpSpPr>
        <p:sp>
          <p:nvSpPr>
            <p:cNvPr name="Freeform 13" id="13"/>
            <p:cNvSpPr/>
            <p:nvPr/>
          </p:nvSpPr>
          <p:spPr>
            <a:xfrm flipH="false" flipV="false" rot="0">
              <a:off x="0" y="0"/>
              <a:ext cx="5260714" cy="490218"/>
            </a:xfrm>
            <a:custGeom>
              <a:avLst/>
              <a:gdLst/>
              <a:ahLst/>
              <a:cxnLst/>
              <a:rect r="r" b="b" t="t" l="l"/>
              <a:pathLst>
                <a:path h="490218" w="5260714">
                  <a:moveTo>
                    <a:pt x="0" y="0"/>
                  </a:moveTo>
                  <a:lnTo>
                    <a:pt x="5260714" y="0"/>
                  </a:lnTo>
                  <a:lnTo>
                    <a:pt x="5260714" y="490218"/>
                  </a:lnTo>
                  <a:lnTo>
                    <a:pt x="0" y="490218"/>
                  </a:lnTo>
                  <a:close/>
                </a:path>
              </a:pathLst>
            </a:custGeom>
            <a:solidFill>
              <a:srgbClr val="F1F2F2"/>
            </a:solidFill>
          </p:spPr>
        </p:sp>
        <p:sp>
          <p:nvSpPr>
            <p:cNvPr name="TextBox 14" id="14"/>
            <p:cNvSpPr txBox="true"/>
            <p:nvPr/>
          </p:nvSpPr>
          <p:spPr>
            <a:xfrm>
              <a:off x="0" y="-38100"/>
              <a:ext cx="5260714" cy="528318"/>
            </a:xfrm>
            <a:prstGeom prst="rect">
              <a:avLst/>
            </a:prstGeom>
          </p:spPr>
          <p:txBody>
            <a:bodyPr anchor="ctr" rtlCol="false" tIns="50800" lIns="50800" bIns="50800" rIns="50800"/>
            <a:lstStyle/>
            <a:p>
              <a:pPr algn="ctr">
                <a:lnSpc>
                  <a:spcPts val="2659"/>
                </a:lnSpc>
                <a:spcBef>
                  <a:spcPct val="0"/>
                </a:spcBef>
              </a:pPr>
            </a:p>
          </p:txBody>
        </p:sp>
      </p:grpSp>
      <p:sp>
        <p:nvSpPr>
          <p:cNvPr name="Freeform 15" id="15"/>
          <p:cNvSpPr/>
          <p:nvPr/>
        </p:nvSpPr>
        <p:spPr>
          <a:xfrm flipH="false" flipV="false" rot="0">
            <a:off x="15561698" y="981230"/>
            <a:ext cx="3395204" cy="1049427"/>
          </a:xfrm>
          <a:custGeom>
            <a:avLst/>
            <a:gdLst/>
            <a:ahLst/>
            <a:cxnLst/>
            <a:rect r="r" b="b" t="t" l="l"/>
            <a:pathLst>
              <a:path h="1049427" w="3395204">
                <a:moveTo>
                  <a:pt x="0" y="0"/>
                </a:moveTo>
                <a:lnTo>
                  <a:pt x="3395204" y="0"/>
                </a:lnTo>
                <a:lnTo>
                  <a:pt x="3395204" y="1049426"/>
                </a:lnTo>
                <a:lnTo>
                  <a:pt x="0" y="10494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6" id="16"/>
          <p:cNvSpPr txBox="true"/>
          <p:nvPr/>
        </p:nvSpPr>
        <p:spPr>
          <a:xfrm rot="0">
            <a:off x="3105208" y="3182997"/>
            <a:ext cx="12077583" cy="3063875"/>
          </a:xfrm>
          <a:prstGeom prst="rect">
            <a:avLst/>
          </a:prstGeom>
        </p:spPr>
        <p:txBody>
          <a:bodyPr anchor="t" rtlCol="false" tIns="0" lIns="0" bIns="0" rIns="0">
            <a:spAutoFit/>
          </a:bodyPr>
          <a:lstStyle/>
          <a:p>
            <a:pPr algn="l">
              <a:lnSpc>
                <a:spcPts val="4899"/>
              </a:lnSpc>
            </a:pPr>
            <a:r>
              <a:rPr lang="en-US" sz="3499">
                <a:solidFill>
                  <a:srgbClr val="000000"/>
                </a:solidFill>
                <a:latin typeface="Nunito Bold"/>
                <a:ea typeface="Nunito Bold"/>
                <a:cs typeface="Nunito Bold"/>
                <a:sym typeface="Nunito Bold"/>
              </a:rPr>
              <a:t>In our project, we utilize Firebase as the primary database to store and manage data efficiently. Firebase, a cloud-hosted NoSQL database, offers real-time synchronization and ease of use, making it an ideal choice for our application</a:t>
            </a:r>
          </a:p>
        </p:txBody>
      </p:sp>
      <p:sp>
        <p:nvSpPr>
          <p:cNvPr name="Freeform 17" id="17"/>
          <p:cNvSpPr/>
          <p:nvPr/>
        </p:nvSpPr>
        <p:spPr>
          <a:xfrm flipH="false" flipV="false" rot="0">
            <a:off x="11117922" y="6253714"/>
            <a:ext cx="6141378" cy="1680885"/>
          </a:xfrm>
          <a:custGeom>
            <a:avLst/>
            <a:gdLst/>
            <a:ahLst/>
            <a:cxnLst/>
            <a:rect r="r" b="b" t="t" l="l"/>
            <a:pathLst>
              <a:path h="1680885" w="6141378">
                <a:moveTo>
                  <a:pt x="0" y="0"/>
                </a:moveTo>
                <a:lnTo>
                  <a:pt x="6141378" y="0"/>
                </a:lnTo>
                <a:lnTo>
                  <a:pt x="6141378" y="1680885"/>
                </a:lnTo>
                <a:lnTo>
                  <a:pt x="0" y="1680885"/>
                </a:lnTo>
                <a:lnTo>
                  <a:pt x="0" y="0"/>
                </a:lnTo>
                <a:close/>
              </a:path>
            </a:pathLst>
          </a:custGeom>
          <a:blipFill>
            <a:blip r:embed="rId8"/>
            <a:stretch>
              <a:fillRect l="0" t="0" r="0" b="0"/>
            </a:stretch>
          </a:blipFill>
        </p:spPr>
      </p:sp>
      <p:sp>
        <p:nvSpPr>
          <p:cNvPr name="TextBox 18" id="18"/>
          <p:cNvSpPr txBox="true"/>
          <p:nvPr/>
        </p:nvSpPr>
        <p:spPr>
          <a:xfrm rot="0">
            <a:off x="4543721" y="904875"/>
            <a:ext cx="9200557" cy="1125781"/>
          </a:xfrm>
          <a:prstGeom prst="rect">
            <a:avLst/>
          </a:prstGeom>
        </p:spPr>
        <p:txBody>
          <a:bodyPr anchor="t" rtlCol="false" tIns="0" lIns="0" bIns="0" rIns="0">
            <a:spAutoFit/>
          </a:bodyPr>
          <a:lstStyle/>
          <a:p>
            <a:pPr algn="ctr">
              <a:lnSpc>
                <a:spcPts val="9250"/>
              </a:lnSpc>
            </a:pPr>
            <a:r>
              <a:rPr lang="en-US" sz="6607">
                <a:solidFill>
                  <a:srgbClr val="000000"/>
                </a:solidFill>
                <a:latin typeface="Fredoka"/>
                <a:ea typeface="Fredoka"/>
                <a:cs typeface="Fredoka"/>
                <a:sym typeface="Fredoka"/>
              </a:rPr>
              <a:t>DATABASE</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09662" y="0"/>
            <a:ext cx="20507325" cy="10287000"/>
            <a:chOff x="0" y="0"/>
            <a:chExt cx="27343100" cy="13716000"/>
          </a:xfrm>
        </p:grpSpPr>
        <p:sp>
          <p:nvSpPr>
            <p:cNvPr name="Freeform 3" id="3"/>
            <p:cNvSpPr/>
            <p:nvPr/>
          </p:nvSpPr>
          <p:spPr>
            <a:xfrm flipH="false" flipV="false" rot="0">
              <a:off x="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62710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296667" y="687305"/>
            <a:ext cx="1949375" cy="1949375"/>
          </a:xfrm>
          <a:custGeom>
            <a:avLst/>
            <a:gdLst/>
            <a:ahLst/>
            <a:cxnLst/>
            <a:rect r="r" b="b" t="t" l="l"/>
            <a:pathLst>
              <a:path h="1949375" w="1949375">
                <a:moveTo>
                  <a:pt x="0" y="0"/>
                </a:moveTo>
                <a:lnTo>
                  <a:pt x="1949375" y="0"/>
                </a:lnTo>
                <a:lnTo>
                  <a:pt x="1949375" y="1949375"/>
                </a:lnTo>
                <a:lnTo>
                  <a:pt x="0" y="19493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1028700" y="1552420"/>
            <a:ext cx="16230600" cy="6382179"/>
            <a:chOff x="0" y="0"/>
            <a:chExt cx="4274726" cy="1680903"/>
          </a:xfrm>
        </p:grpSpPr>
        <p:sp>
          <p:nvSpPr>
            <p:cNvPr name="Freeform 7" id="7"/>
            <p:cNvSpPr/>
            <p:nvPr/>
          </p:nvSpPr>
          <p:spPr>
            <a:xfrm flipH="false" flipV="false" rot="0">
              <a:off x="0" y="0"/>
              <a:ext cx="4274726" cy="1680903"/>
            </a:xfrm>
            <a:custGeom>
              <a:avLst/>
              <a:gdLst/>
              <a:ahLst/>
              <a:cxnLst/>
              <a:rect r="r" b="b" t="t" l="l"/>
              <a:pathLst>
                <a:path h="1680903" w="4274726">
                  <a:moveTo>
                    <a:pt x="0" y="0"/>
                  </a:moveTo>
                  <a:lnTo>
                    <a:pt x="4274726" y="0"/>
                  </a:lnTo>
                  <a:lnTo>
                    <a:pt x="4274726" y="1680903"/>
                  </a:lnTo>
                  <a:lnTo>
                    <a:pt x="0" y="1680903"/>
                  </a:lnTo>
                  <a:close/>
                </a:path>
              </a:pathLst>
            </a:custGeom>
            <a:solidFill>
              <a:srgbClr val="F1F2F2"/>
            </a:solidFill>
          </p:spPr>
        </p:sp>
        <p:sp>
          <p:nvSpPr>
            <p:cNvPr name="TextBox 8" id="8"/>
            <p:cNvSpPr txBox="true"/>
            <p:nvPr/>
          </p:nvSpPr>
          <p:spPr>
            <a:xfrm>
              <a:off x="0" y="-38100"/>
              <a:ext cx="4274726" cy="1719003"/>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3793605" y="687305"/>
            <a:ext cx="10680816" cy="1730229"/>
            <a:chOff x="0" y="0"/>
            <a:chExt cx="2813054" cy="455698"/>
          </a:xfrm>
        </p:grpSpPr>
        <p:sp>
          <p:nvSpPr>
            <p:cNvPr name="Freeform 10" id="10"/>
            <p:cNvSpPr/>
            <p:nvPr/>
          </p:nvSpPr>
          <p:spPr>
            <a:xfrm flipH="false" flipV="false" rot="0">
              <a:off x="0" y="0"/>
              <a:ext cx="2813054" cy="455698"/>
            </a:xfrm>
            <a:custGeom>
              <a:avLst/>
              <a:gdLst/>
              <a:ahLst/>
              <a:cxnLst/>
              <a:rect r="r" b="b" t="t" l="l"/>
              <a:pathLst>
                <a:path h="455698" w="2813054">
                  <a:moveTo>
                    <a:pt x="0" y="0"/>
                  </a:moveTo>
                  <a:lnTo>
                    <a:pt x="2813054" y="0"/>
                  </a:lnTo>
                  <a:lnTo>
                    <a:pt x="2813054" y="455698"/>
                  </a:lnTo>
                  <a:lnTo>
                    <a:pt x="0" y="455698"/>
                  </a:lnTo>
                  <a:close/>
                </a:path>
              </a:pathLst>
            </a:custGeom>
            <a:solidFill>
              <a:srgbClr val="DDDEDE"/>
            </a:solidFill>
            <a:ln w="38100" cap="sq">
              <a:solidFill>
                <a:srgbClr val="F1F2F2"/>
              </a:solidFill>
              <a:prstDash val="solid"/>
              <a:miter/>
            </a:ln>
          </p:spPr>
        </p:sp>
        <p:sp>
          <p:nvSpPr>
            <p:cNvPr name="TextBox 11" id="11"/>
            <p:cNvSpPr txBox="true"/>
            <p:nvPr/>
          </p:nvSpPr>
          <p:spPr>
            <a:xfrm>
              <a:off x="0" y="-38100"/>
              <a:ext cx="2813054" cy="493798"/>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576611" y="8801100"/>
            <a:ext cx="19974273" cy="1861295"/>
            <a:chOff x="0" y="0"/>
            <a:chExt cx="5260714" cy="490218"/>
          </a:xfrm>
        </p:grpSpPr>
        <p:sp>
          <p:nvSpPr>
            <p:cNvPr name="Freeform 13" id="13"/>
            <p:cNvSpPr/>
            <p:nvPr/>
          </p:nvSpPr>
          <p:spPr>
            <a:xfrm flipH="false" flipV="false" rot="0">
              <a:off x="0" y="0"/>
              <a:ext cx="5260714" cy="490218"/>
            </a:xfrm>
            <a:custGeom>
              <a:avLst/>
              <a:gdLst/>
              <a:ahLst/>
              <a:cxnLst/>
              <a:rect r="r" b="b" t="t" l="l"/>
              <a:pathLst>
                <a:path h="490218" w="5260714">
                  <a:moveTo>
                    <a:pt x="0" y="0"/>
                  </a:moveTo>
                  <a:lnTo>
                    <a:pt x="5260714" y="0"/>
                  </a:lnTo>
                  <a:lnTo>
                    <a:pt x="5260714" y="490218"/>
                  </a:lnTo>
                  <a:lnTo>
                    <a:pt x="0" y="490218"/>
                  </a:lnTo>
                  <a:close/>
                </a:path>
              </a:pathLst>
            </a:custGeom>
            <a:solidFill>
              <a:srgbClr val="F1F2F2"/>
            </a:solidFill>
          </p:spPr>
        </p:sp>
        <p:sp>
          <p:nvSpPr>
            <p:cNvPr name="TextBox 14" id="14"/>
            <p:cNvSpPr txBox="true"/>
            <p:nvPr/>
          </p:nvSpPr>
          <p:spPr>
            <a:xfrm>
              <a:off x="0" y="-38100"/>
              <a:ext cx="5260714" cy="528318"/>
            </a:xfrm>
            <a:prstGeom prst="rect">
              <a:avLst/>
            </a:prstGeom>
          </p:spPr>
          <p:txBody>
            <a:bodyPr anchor="ctr" rtlCol="false" tIns="50800" lIns="50800" bIns="50800" rIns="50800"/>
            <a:lstStyle/>
            <a:p>
              <a:pPr algn="ctr">
                <a:lnSpc>
                  <a:spcPts val="2659"/>
                </a:lnSpc>
                <a:spcBef>
                  <a:spcPct val="0"/>
                </a:spcBef>
              </a:pPr>
            </a:p>
          </p:txBody>
        </p:sp>
      </p:grpSp>
      <p:sp>
        <p:nvSpPr>
          <p:cNvPr name="Freeform 15" id="15"/>
          <p:cNvSpPr/>
          <p:nvPr/>
        </p:nvSpPr>
        <p:spPr>
          <a:xfrm flipH="false" flipV="false" rot="0">
            <a:off x="15561698" y="981230"/>
            <a:ext cx="3395204" cy="1049427"/>
          </a:xfrm>
          <a:custGeom>
            <a:avLst/>
            <a:gdLst/>
            <a:ahLst/>
            <a:cxnLst/>
            <a:rect r="r" b="b" t="t" l="l"/>
            <a:pathLst>
              <a:path h="1049427" w="3395204">
                <a:moveTo>
                  <a:pt x="0" y="0"/>
                </a:moveTo>
                <a:lnTo>
                  <a:pt x="3395204" y="0"/>
                </a:lnTo>
                <a:lnTo>
                  <a:pt x="3395204" y="1049426"/>
                </a:lnTo>
                <a:lnTo>
                  <a:pt x="0" y="10494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6" id="16"/>
          <p:cNvSpPr txBox="true"/>
          <p:nvPr/>
        </p:nvSpPr>
        <p:spPr>
          <a:xfrm rot="0">
            <a:off x="2246042" y="3802122"/>
            <a:ext cx="13835362" cy="1825625"/>
          </a:xfrm>
          <a:prstGeom prst="rect">
            <a:avLst/>
          </a:prstGeom>
        </p:spPr>
        <p:txBody>
          <a:bodyPr anchor="t" rtlCol="false" tIns="0" lIns="0" bIns="0" rIns="0">
            <a:spAutoFit/>
          </a:bodyPr>
          <a:lstStyle/>
          <a:p>
            <a:pPr algn="l">
              <a:lnSpc>
                <a:spcPts val="4899"/>
              </a:lnSpc>
            </a:pPr>
            <a:r>
              <a:rPr lang="en-US" sz="3499">
                <a:solidFill>
                  <a:srgbClr val="000000"/>
                </a:solidFill>
                <a:latin typeface="Nunito Bold"/>
                <a:ea typeface="Nunito Bold"/>
                <a:cs typeface="Nunito Bold"/>
                <a:sym typeface="Nunito Bold"/>
              </a:rPr>
              <a:t>Data is initially stored in a JSON file, which is then uploaded to Firebase. This JSON file contains the structured data that will be used in the application. </a:t>
            </a:r>
          </a:p>
        </p:txBody>
      </p:sp>
      <p:sp>
        <p:nvSpPr>
          <p:cNvPr name="TextBox 17" id="17"/>
          <p:cNvSpPr txBox="true"/>
          <p:nvPr/>
        </p:nvSpPr>
        <p:spPr>
          <a:xfrm rot="0">
            <a:off x="3475072" y="904875"/>
            <a:ext cx="11337856" cy="3465353"/>
          </a:xfrm>
          <a:prstGeom prst="rect">
            <a:avLst/>
          </a:prstGeom>
        </p:spPr>
        <p:txBody>
          <a:bodyPr anchor="t" rtlCol="false" tIns="0" lIns="0" bIns="0" rIns="0">
            <a:spAutoFit/>
          </a:bodyPr>
          <a:lstStyle/>
          <a:p>
            <a:pPr algn="ctr">
              <a:lnSpc>
                <a:spcPts val="9250"/>
              </a:lnSpc>
            </a:pPr>
            <a:r>
              <a:rPr lang="en-US" sz="6607">
                <a:solidFill>
                  <a:srgbClr val="000000"/>
                </a:solidFill>
                <a:latin typeface="Fredoka"/>
                <a:ea typeface="Fredoka"/>
                <a:cs typeface="Fredoka"/>
                <a:sym typeface="Fredoka"/>
              </a:rPr>
              <a:t>JSON FILE INTEGRATION</a:t>
            </a:r>
          </a:p>
          <a:p>
            <a:pPr algn="ctr">
              <a:lnSpc>
                <a:spcPts val="9250"/>
              </a:lnSpc>
            </a:pPr>
          </a:p>
          <a:p>
            <a:pPr algn="ctr">
              <a:lnSpc>
                <a:spcPts val="9250"/>
              </a:lnSpc>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09662" y="0"/>
            <a:ext cx="20507325" cy="10287000"/>
            <a:chOff x="0" y="0"/>
            <a:chExt cx="27343100" cy="13716000"/>
          </a:xfrm>
        </p:grpSpPr>
        <p:sp>
          <p:nvSpPr>
            <p:cNvPr name="Freeform 3" id="3"/>
            <p:cNvSpPr/>
            <p:nvPr/>
          </p:nvSpPr>
          <p:spPr>
            <a:xfrm flipH="false" flipV="false" rot="0">
              <a:off x="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62710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grpSp>
        <p:nvGrpSpPr>
          <p:cNvPr name="Group 5" id="5"/>
          <p:cNvGrpSpPr/>
          <p:nvPr/>
        </p:nvGrpSpPr>
        <p:grpSpPr>
          <a:xfrm rot="0">
            <a:off x="1427048" y="3978076"/>
            <a:ext cx="3490544" cy="4208359"/>
            <a:chOff x="0" y="0"/>
            <a:chExt cx="919320" cy="1108374"/>
          </a:xfrm>
        </p:grpSpPr>
        <p:sp>
          <p:nvSpPr>
            <p:cNvPr name="Freeform 6" id="6"/>
            <p:cNvSpPr/>
            <p:nvPr/>
          </p:nvSpPr>
          <p:spPr>
            <a:xfrm flipH="false" flipV="false" rot="0">
              <a:off x="0" y="0"/>
              <a:ext cx="919320" cy="1108374"/>
            </a:xfrm>
            <a:custGeom>
              <a:avLst/>
              <a:gdLst/>
              <a:ahLst/>
              <a:cxnLst/>
              <a:rect r="r" b="b" t="t" l="l"/>
              <a:pathLst>
                <a:path h="1108374" w="919320">
                  <a:moveTo>
                    <a:pt x="0" y="0"/>
                  </a:moveTo>
                  <a:lnTo>
                    <a:pt x="919320" y="0"/>
                  </a:lnTo>
                  <a:lnTo>
                    <a:pt x="919320" y="1108374"/>
                  </a:lnTo>
                  <a:lnTo>
                    <a:pt x="0" y="1108374"/>
                  </a:lnTo>
                  <a:close/>
                </a:path>
              </a:pathLst>
            </a:custGeom>
            <a:solidFill>
              <a:srgbClr val="F1F2F2"/>
            </a:solidFill>
          </p:spPr>
        </p:sp>
        <p:sp>
          <p:nvSpPr>
            <p:cNvPr name="TextBox 7" id="7"/>
            <p:cNvSpPr txBox="true"/>
            <p:nvPr/>
          </p:nvSpPr>
          <p:spPr>
            <a:xfrm>
              <a:off x="0" y="-38100"/>
              <a:ext cx="919320" cy="1146474"/>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3728188" y="687305"/>
            <a:ext cx="11910261" cy="1730229"/>
            <a:chOff x="0" y="0"/>
            <a:chExt cx="3136859" cy="455698"/>
          </a:xfrm>
        </p:grpSpPr>
        <p:sp>
          <p:nvSpPr>
            <p:cNvPr name="Freeform 9" id="9"/>
            <p:cNvSpPr/>
            <p:nvPr/>
          </p:nvSpPr>
          <p:spPr>
            <a:xfrm flipH="false" flipV="false" rot="0">
              <a:off x="0" y="0"/>
              <a:ext cx="3136859" cy="455698"/>
            </a:xfrm>
            <a:custGeom>
              <a:avLst/>
              <a:gdLst/>
              <a:ahLst/>
              <a:cxnLst/>
              <a:rect r="r" b="b" t="t" l="l"/>
              <a:pathLst>
                <a:path h="455698" w="3136859">
                  <a:moveTo>
                    <a:pt x="0" y="0"/>
                  </a:moveTo>
                  <a:lnTo>
                    <a:pt x="3136859" y="0"/>
                  </a:lnTo>
                  <a:lnTo>
                    <a:pt x="3136859" y="455698"/>
                  </a:lnTo>
                  <a:lnTo>
                    <a:pt x="0" y="455698"/>
                  </a:lnTo>
                  <a:close/>
                </a:path>
              </a:pathLst>
            </a:custGeom>
            <a:solidFill>
              <a:srgbClr val="DDDEDE"/>
            </a:solidFill>
            <a:ln w="38100" cap="sq">
              <a:solidFill>
                <a:srgbClr val="F1F2F2"/>
              </a:solidFill>
              <a:prstDash val="solid"/>
              <a:miter/>
            </a:ln>
          </p:spPr>
        </p:sp>
        <p:sp>
          <p:nvSpPr>
            <p:cNvPr name="TextBox 10" id="10"/>
            <p:cNvSpPr txBox="true"/>
            <p:nvPr/>
          </p:nvSpPr>
          <p:spPr>
            <a:xfrm>
              <a:off x="0" y="-38100"/>
              <a:ext cx="3136859" cy="493798"/>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576611" y="8801100"/>
            <a:ext cx="19974273" cy="1861295"/>
            <a:chOff x="0" y="0"/>
            <a:chExt cx="5260714" cy="490218"/>
          </a:xfrm>
        </p:grpSpPr>
        <p:sp>
          <p:nvSpPr>
            <p:cNvPr name="Freeform 12" id="12"/>
            <p:cNvSpPr/>
            <p:nvPr/>
          </p:nvSpPr>
          <p:spPr>
            <a:xfrm flipH="false" flipV="false" rot="0">
              <a:off x="0" y="0"/>
              <a:ext cx="5260714" cy="490218"/>
            </a:xfrm>
            <a:custGeom>
              <a:avLst/>
              <a:gdLst/>
              <a:ahLst/>
              <a:cxnLst/>
              <a:rect r="r" b="b" t="t" l="l"/>
              <a:pathLst>
                <a:path h="490218" w="5260714">
                  <a:moveTo>
                    <a:pt x="0" y="0"/>
                  </a:moveTo>
                  <a:lnTo>
                    <a:pt x="5260714" y="0"/>
                  </a:lnTo>
                  <a:lnTo>
                    <a:pt x="5260714" y="490218"/>
                  </a:lnTo>
                  <a:lnTo>
                    <a:pt x="0" y="490218"/>
                  </a:lnTo>
                  <a:close/>
                </a:path>
              </a:pathLst>
            </a:custGeom>
            <a:solidFill>
              <a:srgbClr val="F1F2F2"/>
            </a:solidFill>
          </p:spPr>
        </p:sp>
        <p:sp>
          <p:nvSpPr>
            <p:cNvPr name="TextBox 13" id="13"/>
            <p:cNvSpPr txBox="true"/>
            <p:nvPr/>
          </p:nvSpPr>
          <p:spPr>
            <a:xfrm>
              <a:off x="0" y="-38100"/>
              <a:ext cx="5260714" cy="528318"/>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4558294" y="904875"/>
            <a:ext cx="9704463" cy="1125781"/>
          </a:xfrm>
          <a:prstGeom prst="rect">
            <a:avLst/>
          </a:prstGeom>
        </p:spPr>
        <p:txBody>
          <a:bodyPr anchor="t" rtlCol="false" tIns="0" lIns="0" bIns="0" rIns="0">
            <a:spAutoFit/>
          </a:bodyPr>
          <a:lstStyle/>
          <a:p>
            <a:pPr algn="ctr">
              <a:lnSpc>
                <a:spcPts val="9250"/>
              </a:lnSpc>
            </a:pPr>
            <a:r>
              <a:rPr lang="en-US" sz="6607">
                <a:solidFill>
                  <a:srgbClr val="000000"/>
                </a:solidFill>
                <a:latin typeface="Fredoka"/>
                <a:ea typeface="Fredoka"/>
                <a:cs typeface="Fredoka"/>
                <a:sym typeface="Fredoka"/>
              </a:rPr>
              <a:t>INTEGRATION STEPS</a:t>
            </a:r>
          </a:p>
        </p:txBody>
      </p:sp>
      <p:sp>
        <p:nvSpPr>
          <p:cNvPr name="TextBox 15" id="15"/>
          <p:cNvSpPr txBox="true"/>
          <p:nvPr/>
        </p:nvSpPr>
        <p:spPr>
          <a:xfrm rot="0">
            <a:off x="1171065" y="4219208"/>
            <a:ext cx="4000005" cy="1099820"/>
          </a:xfrm>
          <a:prstGeom prst="rect">
            <a:avLst/>
          </a:prstGeom>
        </p:spPr>
        <p:txBody>
          <a:bodyPr anchor="t" rtlCol="false" tIns="0" lIns="0" bIns="0" rIns="0">
            <a:spAutoFit/>
          </a:bodyPr>
          <a:lstStyle/>
          <a:p>
            <a:pPr algn="ctr">
              <a:lnSpc>
                <a:spcPts val="4480"/>
              </a:lnSpc>
            </a:pPr>
            <a:r>
              <a:rPr lang="en-US" sz="3200">
                <a:solidFill>
                  <a:srgbClr val="000000"/>
                </a:solidFill>
                <a:latin typeface="Fredoka"/>
                <a:ea typeface="Fredoka"/>
                <a:cs typeface="Fredoka"/>
                <a:sym typeface="Fredoka"/>
              </a:rPr>
              <a:t>LOADING JSON DATA</a:t>
            </a:r>
          </a:p>
        </p:txBody>
      </p:sp>
      <p:sp>
        <p:nvSpPr>
          <p:cNvPr name="AutoShape 16" id="16"/>
          <p:cNvSpPr/>
          <p:nvPr/>
        </p:nvSpPr>
        <p:spPr>
          <a:xfrm rot="0">
            <a:off x="2932173" y="3260046"/>
            <a:ext cx="12423654" cy="0"/>
          </a:xfrm>
          <a:prstGeom prst="line">
            <a:avLst/>
          </a:prstGeom>
          <a:ln cap="flat" w="133350">
            <a:solidFill>
              <a:srgbClr val="DDDEDE"/>
            </a:solidFill>
            <a:prstDash val="solid"/>
            <a:headEnd type="none" len="sm" w="sm"/>
            <a:tailEnd type="none" len="sm" w="sm"/>
          </a:ln>
        </p:spPr>
      </p:sp>
      <p:grpSp>
        <p:nvGrpSpPr>
          <p:cNvPr name="Group 17" id="17"/>
          <p:cNvGrpSpPr/>
          <p:nvPr/>
        </p:nvGrpSpPr>
        <p:grpSpPr>
          <a:xfrm rot="0">
            <a:off x="2932173" y="3326721"/>
            <a:ext cx="480294" cy="655427"/>
            <a:chOff x="0" y="0"/>
            <a:chExt cx="126497" cy="172623"/>
          </a:xfrm>
        </p:grpSpPr>
        <p:sp>
          <p:nvSpPr>
            <p:cNvPr name="Freeform 18" id="18"/>
            <p:cNvSpPr/>
            <p:nvPr/>
          </p:nvSpPr>
          <p:spPr>
            <a:xfrm flipH="false" flipV="false" rot="0">
              <a:off x="0" y="0"/>
              <a:ext cx="126497" cy="172623"/>
            </a:xfrm>
            <a:custGeom>
              <a:avLst/>
              <a:gdLst/>
              <a:ahLst/>
              <a:cxnLst/>
              <a:rect r="r" b="b" t="t" l="l"/>
              <a:pathLst>
                <a:path h="172623" w="126497">
                  <a:moveTo>
                    <a:pt x="0" y="0"/>
                  </a:moveTo>
                  <a:lnTo>
                    <a:pt x="126497" y="0"/>
                  </a:lnTo>
                  <a:lnTo>
                    <a:pt x="126497" y="172623"/>
                  </a:lnTo>
                  <a:lnTo>
                    <a:pt x="0" y="172623"/>
                  </a:lnTo>
                  <a:close/>
                </a:path>
              </a:pathLst>
            </a:custGeom>
            <a:solidFill>
              <a:srgbClr val="DDDEDE"/>
            </a:solidFill>
          </p:spPr>
        </p:sp>
        <p:sp>
          <p:nvSpPr>
            <p:cNvPr name="TextBox 19" id="19"/>
            <p:cNvSpPr txBox="true"/>
            <p:nvPr/>
          </p:nvSpPr>
          <p:spPr>
            <a:xfrm>
              <a:off x="0" y="-38100"/>
              <a:ext cx="126497" cy="210723"/>
            </a:xfrm>
            <a:prstGeom prst="rect">
              <a:avLst/>
            </a:prstGeom>
          </p:spPr>
          <p:txBody>
            <a:bodyPr anchor="ctr" rtlCol="false" tIns="50800" lIns="50800" bIns="50800" rIns="50800"/>
            <a:lstStyle/>
            <a:p>
              <a:pPr algn="ctr">
                <a:lnSpc>
                  <a:spcPts val="2659"/>
                </a:lnSpc>
                <a:spcBef>
                  <a:spcPct val="0"/>
                </a:spcBef>
              </a:pPr>
            </a:p>
          </p:txBody>
        </p:sp>
      </p:grpSp>
      <p:grpSp>
        <p:nvGrpSpPr>
          <p:cNvPr name="Group 20" id="20"/>
          <p:cNvGrpSpPr/>
          <p:nvPr/>
        </p:nvGrpSpPr>
        <p:grpSpPr>
          <a:xfrm rot="0">
            <a:off x="8903853" y="3326721"/>
            <a:ext cx="480294" cy="655427"/>
            <a:chOff x="0" y="0"/>
            <a:chExt cx="126497" cy="172623"/>
          </a:xfrm>
        </p:grpSpPr>
        <p:sp>
          <p:nvSpPr>
            <p:cNvPr name="Freeform 21" id="21"/>
            <p:cNvSpPr/>
            <p:nvPr/>
          </p:nvSpPr>
          <p:spPr>
            <a:xfrm flipH="false" flipV="false" rot="0">
              <a:off x="0" y="0"/>
              <a:ext cx="126497" cy="172623"/>
            </a:xfrm>
            <a:custGeom>
              <a:avLst/>
              <a:gdLst/>
              <a:ahLst/>
              <a:cxnLst/>
              <a:rect r="r" b="b" t="t" l="l"/>
              <a:pathLst>
                <a:path h="172623" w="126497">
                  <a:moveTo>
                    <a:pt x="0" y="0"/>
                  </a:moveTo>
                  <a:lnTo>
                    <a:pt x="126497" y="0"/>
                  </a:lnTo>
                  <a:lnTo>
                    <a:pt x="126497" y="172623"/>
                  </a:lnTo>
                  <a:lnTo>
                    <a:pt x="0" y="172623"/>
                  </a:lnTo>
                  <a:close/>
                </a:path>
              </a:pathLst>
            </a:custGeom>
            <a:solidFill>
              <a:srgbClr val="DDDEDE"/>
            </a:solidFill>
          </p:spPr>
        </p:sp>
        <p:sp>
          <p:nvSpPr>
            <p:cNvPr name="TextBox 22" id="22"/>
            <p:cNvSpPr txBox="true"/>
            <p:nvPr/>
          </p:nvSpPr>
          <p:spPr>
            <a:xfrm>
              <a:off x="0" y="-38100"/>
              <a:ext cx="126497" cy="210723"/>
            </a:xfrm>
            <a:prstGeom prst="rect">
              <a:avLst/>
            </a:prstGeom>
          </p:spPr>
          <p:txBody>
            <a:bodyPr anchor="ctr" rtlCol="false" tIns="50800" lIns="50800" bIns="50800" rIns="50800"/>
            <a:lstStyle/>
            <a:p>
              <a:pPr algn="ctr">
                <a:lnSpc>
                  <a:spcPts val="2659"/>
                </a:lnSpc>
                <a:spcBef>
                  <a:spcPct val="0"/>
                </a:spcBef>
              </a:pPr>
            </a:p>
          </p:txBody>
        </p:sp>
      </p:grpSp>
      <p:grpSp>
        <p:nvGrpSpPr>
          <p:cNvPr name="Group 23" id="23"/>
          <p:cNvGrpSpPr/>
          <p:nvPr/>
        </p:nvGrpSpPr>
        <p:grpSpPr>
          <a:xfrm rot="0">
            <a:off x="14875533" y="3326721"/>
            <a:ext cx="480294" cy="655427"/>
            <a:chOff x="0" y="0"/>
            <a:chExt cx="126497" cy="172623"/>
          </a:xfrm>
        </p:grpSpPr>
        <p:sp>
          <p:nvSpPr>
            <p:cNvPr name="Freeform 24" id="24"/>
            <p:cNvSpPr/>
            <p:nvPr/>
          </p:nvSpPr>
          <p:spPr>
            <a:xfrm flipH="false" flipV="false" rot="0">
              <a:off x="0" y="0"/>
              <a:ext cx="126497" cy="172623"/>
            </a:xfrm>
            <a:custGeom>
              <a:avLst/>
              <a:gdLst/>
              <a:ahLst/>
              <a:cxnLst/>
              <a:rect r="r" b="b" t="t" l="l"/>
              <a:pathLst>
                <a:path h="172623" w="126497">
                  <a:moveTo>
                    <a:pt x="0" y="0"/>
                  </a:moveTo>
                  <a:lnTo>
                    <a:pt x="126497" y="0"/>
                  </a:lnTo>
                  <a:lnTo>
                    <a:pt x="126497" y="172623"/>
                  </a:lnTo>
                  <a:lnTo>
                    <a:pt x="0" y="172623"/>
                  </a:lnTo>
                  <a:close/>
                </a:path>
              </a:pathLst>
            </a:custGeom>
            <a:solidFill>
              <a:srgbClr val="DDDEDE"/>
            </a:solidFill>
          </p:spPr>
        </p:sp>
        <p:sp>
          <p:nvSpPr>
            <p:cNvPr name="TextBox 25" id="25"/>
            <p:cNvSpPr txBox="true"/>
            <p:nvPr/>
          </p:nvSpPr>
          <p:spPr>
            <a:xfrm>
              <a:off x="0" y="-38100"/>
              <a:ext cx="126497" cy="210723"/>
            </a:xfrm>
            <a:prstGeom prst="rect">
              <a:avLst/>
            </a:prstGeom>
          </p:spPr>
          <p:txBody>
            <a:bodyPr anchor="ctr" rtlCol="false" tIns="50800" lIns="50800" bIns="50800" rIns="50800"/>
            <a:lstStyle/>
            <a:p>
              <a:pPr algn="ctr">
                <a:lnSpc>
                  <a:spcPts val="2659"/>
                </a:lnSpc>
                <a:spcBef>
                  <a:spcPct val="0"/>
                </a:spcBef>
              </a:pPr>
            </a:p>
          </p:txBody>
        </p:sp>
      </p:grpSp>
      <p:grpSp>
        <p:nvGrpSpPr>
          <p:cNvPr name="Group 26" id="26"/>
          <p:cNvGrpSpPr/>
          <p:nvPr/>
        </p:nvGrpSpPr>
        <p:grpSpPr>
          <a:xfrm rot="0">
            <a:off x="7398728" y="3982147"/>
            <a:ext cx="3490544" cy="4208359"/>
            <a:chOff x="0" y="0"/>
            <a:chExt cx="919320" cy="1108374"/>
          </a:xfrm>
        </p:grpSpPr>
        <p:sp>
          <p:nvSpPr>
            <p:cNvPr name="Freeform 27" id="27"/>
            <p:cNvSpPr/>
            <p:nvPr/>
          </p:nvSpPr>
          <p:spPr>
            <a:xfrm flipH="false" flipV="false" rot="0">
              <a:off x="0" y="0"/>
              <a:ext cx="919320" cy="1108374"/>
            </a:xfrm>
            <a:custGeom>
              <a:avLst/>
              <a:gdLst/>
              <a:ahLst/>
              <a:cxnLst/>
              <a:rect r="r" b="b" t="t" l="l"/>
              <a:pathLst>
                <a:path h="1108374" w="919320">
                  <a:moveTo>
                    <a:pt x="0" y="0"/>
                  </a:moveTo>
                  <a:lnTo>
                    <a:pt x="919320" y="0"/>
                  </a:lnTo>
                  <a:lnTo>
                    <a:pt x="919320" y="1108374"/>
                  </a:lnTo>
                  <a:lnTo>
                    <a:pt x="0" y="1108374"/>
                  </a:lnTo>
                  <a:close/>
                </a:path>
              </a:pathLst>
            </a:custGeom>
            <a:solidFill>
              <a:srgbClr val="F1F2F2"/>
            </a:solidFill>
          </p:spPr>
        </p:sp>
        <p:sp>
          <p:nvSpPr>
            <p:cNvPr name="TextBox 28" id="28"/>
            <p:cNvSpPr txBox="true"/>
            <p:nvPr/>
          </p:nvSpPr>
          <p:spPr>
            <a:xfrm>
              <a:off x="0" y="-38100"/>
              <a:ext cx="919320" cy="1146474"/>
            </a:xfrm>
            <a:prstGeom prst="rect">
              <a:avLst/>
            </a:prstGeom>
          </p:spPr>
          <p:txBody>
            <a:bodyPr anchor="ctr" rtlCol="false" tIns="50800" lIns="50800" bIns="50800" rIns="50800"/>
            <a:lstStyle/>
            <a:p>
              <a:pPr algn="ctr">
                <a:lnSpc>
                  <a:spcPts val="2659"/>
                </a:lnSpc>
                <a:spcBef>
                  <a:spcPct val="0"/>
                </a:spcBef>
              </a:pPr>
            </a:p>
          </p:txBody>
        </p:sp>
      </p:grpSp>
      <p:grpSp>
        <p:nvGrpSpPr>
          <p:cNvPr name="Group 29" id="29"/>
          <p:cNvGrpSpPr/>
          <p:nvPr/>
        </p:nvGrpSpPr>
        <p:grpSpPr>
          <a:xfrm rot="0">
            <a:off x="13370408" y="3986219"/>
            <a:ext cx="3490544" cy="4208359"/>
            <a:chOff x="0" y="0"/>
            <a:chExt cx="919320" cy="1108374"/>
          </a:xfrm>
        </p:grpSpPr>
        <p:sp>
          <p:nvSpPr>
            <p:cNvPr name="Freeform 30" id="30"/>
            <p:cNvSpPr/>
            <p:nvPr/>
          </p:nvSpPr>
          <p:spPr>
            <a:xfrm flipH="false" flipV="false" rot="0">
              <a:off x="0" y="0"/>
              <a:ext cx="919320" cy="1108374"/>
            </a:xfrm>
            <a:custGeom>
              <a:avLst/>
              <a:gdLst/>
              <a:ahLst/>
              <a:cxnLst/>
              <a:rect r="r" b="b" t="t" l="l"/>
              <a:pathLst>
                <a:path h="1108374" w="919320">
                  <a:moveTo>
                    <a:pt x="0" y="0"/>
                  </a:moveTo>
                  <a:lnTo>
                    <a:pt x="919320" y="0"/>
                  </a:lnTo>
                  <a:lnTo>
                    <a:pt x="919320" y="1108374"/>
                  </a:lnTo>
                  <a:lnTo>
                    <a:pt x="0" y="1108374"/>
                  </a:lnTo>
                  <a:close/>
                </a:path>
              </a:pathLst>
            </a:custGeom>
            <a:solidFill>
              <a:srgbClr val="F1F2F2"/>
            </a:solidFill>
          </p:spPr>
        </p:sp>
        <p:sp>
          <p:nvSpPr>
            <p:cNvPr name="TextBox 31" id="31"/>
            <p:cNvSpPr txBox="true"/>
            <p:nvPr/>
          </p:nvSpPr>
          <p:spPr>
            <a:xfrm>
              <a:off x="0" y="-38100"/>
              <a:ext cx="919320" cy="1146474"/>
            </a:xfrm>
            <a:prstGeom prst="rect">
              <a:avLst/>
            </a:prstGeom>
          </p:spPr>
          <p:txBody>
            <a:bodyPr anchor="ctr" rtlCol="false" tIns="50800" lIns="50800" bIns="50800" rIns="50800"/>
            <a:lstStyle/>
            <a:p>
              <a:pPr algn="ctr">
                <a:lnSpc>
                  <a:spcPts val="2659"/>
                </a:lnSpc>
                <a:spcBef>
                  <a:spcPct val="0"/>
                </a:spcBef>
              </a:pPr>
            </a:p>
          </p:txBody>
        </p:sp>
      </p:grpSp>
      <p:sp>
        <p:nvSpPr>
          <p:cNvPr name="TextBox 32" id="32"/>
          <p:cNvSpPr txBox="true"/>
          <p:nvPr/>
        </p:nvSpPr>
        <p:spPr>
          <a:xfrm rot="0">
            <a:off x="1590466" y="5386922"/>
            <a:ext cx="3163708" cy="2267585"/>
          </a:xfrm>
          <a:prstGeom prst="rect">
            <a:avLst/>
          </a:prstGeom>
        </p:spPr>
        <p:txBody>
          <a:bodyPr anchor="t" rtlCol="false" tIns="0" lIns="0" bIns="0" rIns="0">
            <a:spAutoFit/>
          </a:bodyPr>
          <a:lstStyle/>
          <a:p>
            <a:pPr algn="ctr">
              <a:lnSpc>
                <a:spcPts val="3640"/>
              </a:lnSpc>
            </a:pPr>
            <a:r>
              <a:rPr lang="en-US" sz="2600">
                <a:solidFill>
                  <a:srgbClr val="000000"/>
                </a:solidFill>
                <a:latin typeface="Nunito Bold"/>
                <a:ea typeface="Nunito Bold"/>
                <a:cs typeface="Nunito Bold"/>
                <a:sym typeface="Nunito Bold"/>
              </a:rPr>
              <a:t>The JSON file, containing structured data, is loaded from Google Drive.</a:t>
            </a:r>
          </a:p>
        </p:txBody>
      </p:sp>
      <p:sp>
        <p:nvSpPr>
          <p:cNvPr name="TextBox 33" id="33"/>
          <p:cNvSpPr txBox="true"/>
          <p:nvPr/>
        </p:nvSpPr>
        <p:spPr>
          <a:xfrm rot="0">
            <a:off x="7562146" y="5386922"/>
            <a:ext cx="3163708" cy="2267585"/>
          </a:xfrm>
          <a:prstGeom prst="rect">
            <a:avLst/>
          </a:prstGeom>
        </p:spPr>
        <p:txBody>
          <a:bodyPr anchor="t" rtlCol="false" tIns="0" lIns="0" bIns="0" rIns="0">
            <a:spAutoFit/>
          </a:bodyPr>
          <a:lstStyle/>
          <a:p>
            <a:pPr algn="ctr">
              <a:lnSpc>
                <a:spcPts val="3640"/>
              </a:lnSpc>
            </a:pPr>
            <a:r>
              <a:rPr lang="en-US" sz="2600">
                <a:solidFill>
                  <a:srgbClr val="000000"/>
                </a:solidFill>
                <a:latin typeface="Nunito Bold"/>
                <a:ea typeface="Nunito Bold"/>
                <a:cs typeface="Nunito Bold"/>
                <a:sym typeface="Nunito Bold"/>
              </a:rPr>
              <a:t>reading the JSON file and using Firebase’s API to insert the data into the database.</a:t>
            </a:r>
          </a:p>
        </p:txBody>
      </p:sp>
      <p:sp>
        <p:nvSpPr>
          <p:cNvPr name="TextBox 34" id="34"/>
          <p:cNvSpPr txBox="true"/>
          <p:nvPr/>
        </p:nvSpPr>
        <p:spPr>
          <a:xfrm rot="0">
            <a:off x="13533826" y="5396447"/>
            <a:ext cx="3163708" cy="2325369"/>
          </a:xfrm>
          <a:prstGeom prst="rect">
            <a:avLst/>
          </a:prstGeom>
        </p:spPr>
        <p:txBody>
          <a:bodyPr anchor="t" rtlCol="false" tIns="0" lIns="0" bIns="0" rIns="0">
            <a:spAutoFit/>
          </a:bodyPr>
          <a:lstStyle/>
          <a:p>
            <a:pPr algn="ctr">
              <a:lnSpc>
                <a:spcPts val="3080"/>
              </a:lnSpc>
            </a:pPr>
            <a:r>
              <a:rPr lang="en-US" sz="2200">
                <a:solidFill>
                  <a:srgbClr val="000000"/>
                </a:solidFill>
                <a:latin typeface="Nunito Bold"/>
                <a:ea typeface="Nunito Bold"/>
                <a:cs typeface="Nunito Bold"/>
                <a:sym typeface="Nunito Bold"/>
              </a:rPr>
              <a:t>Each record in the JSON file is converted into a document in Firebase, allowing for efficient data retrieval and manipulation.</a:t>
            </a:r>
          </a:p>
        </p:txBody>
      </p:sp>
      <p:sp>
        <p:nvSpPr>
          <p:cNvPr name="Freeform 35" id="35"/>
          <p:cNvSpPr/>
          <p:nvPr/>
        </p:nvSpPr>
        <p:spPr>
          <a:xfrm flipH="false" flipV="false" rot="0">
            <a:off x="17119441" y="559518"/>
            <a:ext cx="2942276" cy="2942276"/>
          </a:xfrm>
          <a:custGeom>
            <a:avLst/>
            <a:gdLst/>
            <a:ahLst/>
            <a:cxnLst/>
            <a:rect r="r" b="b" t="t" l="l"/>
            <a:pathLst>
              <a:path h="2942276" w="2942276">
                <a:moveTo>
                  <a:pt x="0" y="0"/>
                </a:moveTo>
                <a:lnTo>
                  <a:pt x="2942276" y="0"/>
                </a:lnTo>
                <a:lnTo>
                  <a:pt x="2942276" y="2942277"/>
                </a:lnTo>
                <a:lnTo>
                  <a:pt x="0" y="29422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36" id="36"/>
          <p:cNvSpPr/>
          <p:nvPr/>
        </p:nvSpPr>
        <p:spPr>
          <a:xfrm flipH="true" flipV="false" rot="0">
            <a:off x="-1183252" y="2277294"/>
            <a:ext cx="3395204" cy="1049427"/>
          </a:xfrm>
          <a:custGeom>
            <a:avLst/>
            <a:gdLst/>
            <a:ahLst/>
            <a:cxnLst/>
            <a:rect r="r" b="b" t="t" l="l"/>
            <a:pathLst>
              <a:path h="1049427" w="3395204">
                <a:moveTo>
                  <a:pt x="3395204" y="0"/>
                </a:moveTo>
                <a:lnTo>
                  <a:pt x="0" y="0"/>
                </a:lnTo>
                <a:lnTo>
                  <a:pt x="0" y="1049427"/>
                </a:lnTo>
                <a:lnTo>
                  <a:pt x="3395204" y="1049427"/>
                </a:lnTo>
                <a:lnTo>
                  <a:pt x="3395204"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37" id="37"/>
          <p:cNvSpPr txBox="true"/>
          <p:nvPr/>
        </p:nvSpPr>
        <p:spPr>
          <a:xfrm rot="0">
            <a:off x="7143998" y="4219208"/>
            <a:ext cx="4000005" cy="1099820"/>
          </a:xfrm>
          <a:prstGeom prst="rect">
            <a:avLst/>
          </a:prstGeom>
        </p:spPr>
        <p:txBody>
          <a:bodyPr anchor="t" rtlCol="false" tIns="0" lIns="0" bIns="0" rIns="0">
            <a:spAutoFit/>
          </a:bodyPr>
          <a:lstStyle/>
          <a:p>
            <a:pPr algn="ctr">
              <a:lnSpc>
                <a:spcPts val="4480"/>
              </a:lnSpc>
            </a:pPr>
            <a:r>
              <a:rPr lang="en-US" sz="3200">
                <a:solidFill>
                  <a:srgbClr val="000000"/>
                </a:solidFill>
                <a:latin typeface="Fredoka"/>
                <a:ea typeface="Fredoka"/>
                <a:cs typeface="Fredoka"/>
                <a:sym typeface="Fredoka"/>
              </a:rPr>
              <a:t>UPLOADING TO FIREBASE</a:t>
            </a:r>
          </a:p>
        </p:txBody>
      </p:sp>
      <p:sp>
        <p:nvSpPr>
          <p:cNvPr name="TextBox 38" id="38"/>
          <p:cNvSpPr txBox="true"/>
          <p:nvPr/>
        </p:nvSpPr>
        <p:spPr>
          <a:xfrm rot="0">
            <a:off x="13115677" y="4219208"/>
            <a:ext cx="4000005" cy="1099820"/>
          </a:xfrm>
          <a:prstGeom prst="rect">
            <a:avLst/>
          </a:prstGeom>
        </p:spPr>
        <p:txBody>
          <a:bodyPr anchor="t" rtlCol="false" tIns="0" lIns="0" bIns="0" rIns="0">
            <a:spAutoFit/>
          </a:bodyPr>
          <a:lstStyle/>
          <a:p>
            <a:pPr algn="ctr">
              <a:lnSpc>
                <a:spcPts val="4480"/>
              </a:lnSpc>
            </a:pPr>
            <a:r>
              <a:rPr lang="en-US" sz="3200">
                <a:solidFill>
                  <a:srgbClr val="000000"/>
                </a:solidFill>
                <a:latin typeface="Fredoka"/>
                <a:ea typeface="Fredoka"/>
                <a:cs typeface="Fredoka"/>
                <a:sym typeface="Fredoka"/>
              </a:rPr>
              <a:t>DATA </a:t>
            </a:r>
          </a:p>
          <a:p>
            <a:pPr algn="ctr">
              <a:lnSpc>
                <a:spcPts val="4480"/>
              </a:lnSpc>
            </a:pPr>
            <a:r>
              <a:rPr lang="en-US" sz="3200">
                <a:solidFill>
                  <a:srgbClr val="000000"/>
                </a:solidFill>
                <a:latin typeface="Fredoka"/>
                <a:ea typeface="Fredoka"/>
                <a:cs typeface="Fredoka"/>
                <a:sym typeface="Fredoka"/>
              </a:rPr>
              <a:t>STRUCTURE</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09662" y="0"/>
            <a:ext cx="20507325" cy="10287000"/>
            <a:chOff x="0" y="0"/>
            <a:chExt cx="27343100" cy="13716000"/>
          </a:xfrm>
        </p:grpSpPr>
        <p:sp>
          <p:nvSpPr>
            <p:cNvPr name="Freeform 3" id="3"/>
            <p:cNvSpPr/>
            <p:nvPr/>
          </p:nvSpPr>
          <p:spPr>
            <a:xfrm flipH="false" flipV="false" rot="0">
              <a:off x="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62710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296667" y="687305"/>
            <a:ext cx="1949375" cy="1949375"/>
          </a:xfrm>
          <a:custGeom>
            <a:avLst/>
            <a:gdLst/>
            <a:ahLst/>
            <a:cxnLst/>
            <a:rect r="r" b="b" t="t" l="l"/>
            <a:pathLst>
              <a:path h="1949375" w="1949375">
                <a:moveTo>
                  <a:pt x="0" y="0"/>
                </a:moveTo>
                <a:lnTo>
                  <a:pt x="1949375" y="0"/>
                </a:lnTo>
                <a:lnTo>
                  <a:pt x="1949375" y="1949375"/>
                </a:lnTo>
                <a:lnTo>
                  <a:pt x="0" y="19493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1028700" y="1552420"/>
            <a:ext cx="16230600" cy="6382179"/>
            <a:chOff x="0" y="0"/>
            <a:chExt cx="4274726" cy="1680903"/>
          </a:xfrm>
        </p:grpSpPr>
        <p:sp>
          <p:nvSpPr>
            <p:cNvPr name="Freeform 7" id="7"/>
            <p:cNvSpPr/>
            <p:nvPr/>
          </p:nvSpPr>
          <p:spPr>
            <a:xfrm flipH="false" flipV="false" rot="0">
              <a:off x="0" y="0"/>
              <a:ext cx="4274726" cy="1680903"/>
            </a:xfrm>
            <a:custGeom>
              <a:avLst/>
              <a:gdLst/>
              <a:ahLst/>
              <a:cxnLst/>
              <a:rect r="r" b="b" t="t" l="l"/>
              <a:pathLst>
                <a:path h="1680903" w="4274726">
                  <a:moveTo>
                    <a:pt x="0" y="0"/>
                  </a:moveTo>
                  <a:lnTo>
                    <a:pt x="4274726" y="0"/>
                  </a:lnTo>
                  <a:lnTo>
                    <a:pt x="4274726" y="1680903"/>
                  </a:lnTo>
                  <a:lnTo>
                    <a:pt x="0" y="1680903"/>
                  </a:lnTo>
                  <a:close/>
                </a:path>
              </a:pathLst>
            </a:custGeom>
            <a:solidFill>
              <a:srgbClr val="F1F2F2"/>
            </a:solidFill>
          </p:spPr>
        </p:sp>
        <p:sp>
          <p:nvSpPr>
            <p:cNvPr name="TextBox 8" id="8"/>
            <p:cNvSpPr txBox="true"/>
            <p:nvPr/>
          </p:nvSpPr>
          <p:spPr>
            <a:xfrm>
              <a:off x="0" y="-38100"/>
              <a:ext cx="4274726" cy="1719003"/>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3793605" y="687305"/>
            <a:ext cx="10680816" cy="1730229"/>
            <a:chOff x="0" y="0"/>
            <a:chExt cx="2813054" cy="455698"/>
          </a:xfrm>
        </p:grpSpPr>
        <p:sp>
          <p:nvSpPr>
            <p:cNvPr name="Freeform 10" id="10"/>
            <p:cNvSpPr/>
            <p:nvPr/>
          </p:nvSpPr>
          <p:spPr>
            <a:xfrm flipH="false" flipV="false" rot="0">
              <a:off x="0" y="0"/>
              <a:ext cx="2813054" cy="455698"/>
            </a:xfrm>
            <a:custGeom>
              <a:avLst/>
              <a:gdLst/>
              <a:ahLst/>
              <a:cxnLst/>
              <a:rect r="r" b="b" t="t" l="l"/>
              <a:pathLst>
                <a:path h="455698" w="2813054">
                  <a:moveTo>
                    <a:pt x="0" y="0"/>
                  </a:moveTo>
                  <a:lnTo>
                    <a:pt x="2813054" y="0"/>
                  </a:lnTo>
                  <a:lnTo>
                    <a:pt x="2813054" y="455698"/>
                  </a:lnTo>
                  <a:lnTo>
                    <a:pt x="0" y="455698"/>
                  </a:lnTo>
                  <a:close/>
                </a:path>
              </a:pathLst>
            </a:custGeom>
            <a:solidFill>
              <a:srgbClr val="DDDEDE"/>
            </a:solidFill>
            <a:ln w="38100" cap="sq">
              <a:solidFill>
                <a:srgbClr val="F1F2F2"/>
              </a:solidFill>
              <a:prstDash val="solid"/>
              <a:miter/>
            </a:ln>
          </p:spPr>
        </p:sp>
        <p:sp>
          <p:nvSpPr>
            <p:cNvPr name="TextBox 11" id="11"/>
            <p:cNvSpPr txBox="true"/>
            <p:nvPr/>
          </p:nvSpPr>
          <p:spPr>
            <a:xfrm>
              <a:off x="0" y="-38100"/>
              <a:ext cx="2813054" cy="493798"/>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576611" y="8801100"/>
            <a:ext cx="19974273" cy="1861295"/>
            <a:chOff x="0" y="0"/>
            <a:chExt cx="5260714" cy="490218"/>
          </a:xfrm>
        </p:grpSpPr>
        <p:sp>
          <p:nvSpPr>
            <p:cNvPr name="Freeform 13" id="13"/>
            <p:cNvSpPr/>
            <p:nvPr/>
          </p:nvSpPr>
          <p:spPr>
            <a:xfrm flipH="false" flipV="false" rot="0">
              <a:off x="0" y="0"/>
              <a:ext cx="5260714" cy="490218"/>
            </a:xfrm>
            <a:custGeom>
              <a:avLst/>
              <a:gdLst/>
              <a:ahLst/>
              <a:cxnLst/>
              <a:rect r="r" b="b" t="t" l="l"/>
              <a:pathLst>
                <a:path h="490218" w="5260714">
                  <a:moveTo>
                    <a:pt x="0" y="0"/>
                  </a:moveTo>
                  <a:lnTo>
                    <a:pt x="5260714" y="0"/>
                  </a:lnTo>
                  <a:lnTo>
                    <a:pt x="5260714" y="490218"/>
                  </a:lnTo>
                  <a:lnTo>
                    <a:pt x="0" y="490218"/>
                  </a:lnTo>
                  <a:close/>
                </a:path>
              </a:pathLst>
            </a:custGeom>
            <a:solidFill>
              <a:srgbClr val="F1F2F2"/>
            </a:solidFill>
          </p:spPr>
        </p:sp>
        <p:sp>
          <p:nvSpPr>
            <p:cNvPr name="TextBox 14" id="14"/>
            <p:cNvSpPr txBox="true"/>
            <p:nvPr/>
          </p:nvSpPr>
          <p:spPr>
            <a:xfrm>
              <a:off x="0" y="-38100"/>
              <a:ext cx="5260714" cy="528318"/>
            </a:xfrm>
            <a:prstGeom prst="rect">
              <a:avLst/>
            </a:prstGeom>
          </p:spPr>
          <p:txBody>
            <a:bodyPr anchor="ctr" rtlCol="false" tIns="50800" lIns="50800" bIns="50800" rIns="50800"/>
            <a:lstStyle/>
            <a:p>
              <a:pPr algn="ctr">
                <a:lnSpc>
                  <a:spcPts val="2659"/>
                </a:lnSpc>
                <a:spcBef>
                  <a:spcPct val="0"/>
                </a:spcBef>
              </a:pPr>
            </a:p>
          </p:txBody>
        </p:sp>
      </p:grpSp>
      <p:sp>
        <p:nvSpPr>
          <p:cNvPr name="Freeform 15" id="15"/>
          <p:cNvSpPr/>
          <p:nvPr/>
        </p:nvSpPr>
        <p:spPr>
          <a:xfrm flipH="false" flipV="false" rot="0">
            <a:off x="15561698" y="981230"/>
            <a:ext cx="3395204" cy="1049427"/>
          </a:xfrm>
          <a:custGeom>
            <a:avLst/>
            <a:gdLst/>
            <a:ahLst/>
            <a:cxnLst/>
            <a:rect r="r" b="b" t="t" l="l"/>
            <a:pathLst>
              <a:path h="1049427" w="3395204">
                <a:moveTo>
                  <a:pt x="0" y="0"/>
                </a:moveTo>
                <a:lnTo>
                  <a:pt x="3395204" y="0"/>
                </a:lnTo>
                <a:lnTo>
                  <a:pt x="3395204" y="1049426"/>
                </a:lnTo>
                <a:lnTo>
                  <a:pt x="0" y="10494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pic>
        <p:nvPicPr>
          <p:cNvPr name="Picture 16" id="16">
            <a:hlinkClick action="ppaction://media"/>
          </p:cNvPr>
          <p:cNvPicPr>
            <a:picLocks noChangeAspect="true"/>
          </p:cNvPicPr>
          <p:nvPr>
            <a:videoFile r:link="rId9"/>
            <p:extLst>
              <p:ext uri="{DAA4B4D4-6D71-4841-9C94-3DE7FCFB9230}">
                <p14:media xmlns:p14="http://schemas.microsoft.com/office/powerpoint/2010/main" r:embed="rId10"/>
              </p:ext>
            </p:extLst>
          </p:nvPr>
        </p:nvPicPr>
        <p:blipFill>
          <a:blip r:embed="rId8"/>
          <a:srcRect l="0" t="0" r="0" b="0"/>
          <a:stretch>
            <a:fillRect/>
          </a:stretch>
        </p:blipFill>
        <p:spPr>
          <a:xfrm flipH="false" flipV="false" rot="0">
            <a:off x="3793605" y="2636680"/>
            <a:ext cx="10492759" cy="5048817"/>
          </a:xfrm>
          <a:prstGeom prst="rect">
            <a:avLst/>
          </a:prstGeom>
        </p:spPr>
      </p:pic>
      <p:sp>
        <p:nvSpPr>
          <p:cNvPr name="TextBox 17" id="17"/>
          <p:cNvSpPr txBox="true"/>
          <p:nvPr/>
        </p:nvSpPr>
        <p:spPr>
          <a:xfrm rot="0">
            <a:off x="3475072" y="904875"/>
            <a:ext cx="11337856" cy="1125781"/>
          </a:xfrm>
          <a:prstGeom prst="rect">
            <a:avLst/>
          </a:prstGeom>
        </p:spPr>
        <p:txBody>
          <a:bodyPr anchor="t" rtlCol="false" tIns="0" lIns="0" bIns="0" rIns="0">
            <a:spAutoFit/>
          </a:bodyPr>
          <a:lstStyle/>
          <a:p>
            <a:pPr algn="ctr">
              <a:lnSpc>
                <a:spcPts val="9250"/>
              </a:lnSpc>
            </a:pPr>
            <a:r>
              <a:rPr lang="en-US" sz="6607">
                <a:solidFill>
                  <a:srgbClr val="000000"/>
                </a:solidFill>
                <a:latin typeface="Fredoka"/>
                <a:ea typeface="Fredoka"/>
                <a:cs typeface="Fredoka"/>
                <a:sym typeface="Fredoka"/>
              </a:rPr>
              <a:t>SHORT VIDEO</a:t>
            </a:r>
          </a:p>
        </p:txBody>
      </p:sp>
    </p:spTree>
  </p:cSld>
  <p:clrMapOvr>
    <a:masterClrMapping/>
  </p:clrMapOvr>
  <p:timing>
    <p:tnLst>
      <p:par>
        <p:cTn dur="indefinite" restart="never" nodeType="tmRoot">
          <p:childTnLst>
            <p:video>
              <p:cMediaNode vol="100000">
                <p:cTn fill="hold" display="false">
                  <p:stCondLst>
                    <p:cond delay="indefinite"/>
                  </p:stCondLst>
                </p:cTn>
                <p:tgtEl>
                  <p:spTgt spid="16"/>
                </p:tgtEl>
              </p:cMediaNode>
            </p:video>
          </p:childTnLst>
        </p:cTn>
      </p:par>
    </p:tnLst>
  </p:timing>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09662" y="0"/>
            <a:ext cx="20507325" cy="10287000"/>
            <a:chOff x="0" y="0"/>
            <a:chExt cx="27343100" cy="13716000"/>
          </a:xfrm>
        </p:grpSpPr>
        <p:sp>
          <p:nvSpPr>
            <p:cNvPr name="Freeform 3" id="3"/>
            <p:cNvSpPr/>
            <p:nvPr/>
          </p:nvSpPr>
          <p:spPr>
            <a:xfrm flipH="false" flipV="false" rot="0">
              <a:off x="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62710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grpSp>
        <p:nvGrpSpPr>
          <p:cNvPr name="Group 5" id="5"/>
          <p:cNvGrpSpPr/>
          <p:nvPr/>
        </p:nvGrpSpPr>
        <p:grpSpPr>
          <a:xfrm rot="0">
            <a:off x="723883" y="3978076"/>
            <a:ext cx="4922918" cy="4208359"/>
            <a:chOff x="0" y="0"/>
            <a:chExt cx="1296571" cy="1108374"/>
          </a:xfrm>
        </p:grpSpPr>
        <p:sp>
          <p:nvSpPr>
            <p:cNvPr name="Freeform 6" id="6"/>
            <p:cNvSpPr/>
            <p:nvPr/>
          </p:nvSpPr>
          <p:spPr>
            <a:xfrm flipH="false" flipV="false" rot="0">
              <a:off x="0" y="0"/>
              <a:ext cx="1296571" cy="1108374"/>
            </a:xfrm>
            <a:custGeom>
              <a:avLst/>
              <a:gdLst/>
              <a:ahLst/>
              <a:cxnLst/>
              <a:rect r="r" b="b" t="t" l="l"/>
              <a:pathLst>
                <a:path h="1108374" w="1296571">
                  <a:moveTo>
                    <a:pt x="0" y="0"/>
                  </a:moveTo>
                  <a:lnTo>
                    <a:pt x="1296571" y="0"/>
                  </a:lnTo>
                  <a:lnTo>
                    <a:pt x="1296571" y="1108374"/>
                  </a:lnTo>
                  <a:lnTo>
                    <a:pt x="0" y="1108374"/>
                  </a:lnTo>
                  <a:close/>
                </a:path>
              </a:pathLst>
            </a:custGeom>
            <a:solidFill>
              <a:srgbClr val="F1F2F2"/>
            </a:solidFill>
          </p:spPr>
        </p:sp>
        <p:sp>
          <p:nvSpPr>
            <p:cNvPr name="TextBox 7" id="7"/>
            <p:cNvSpPr txBox="true"/>
            <p:nvPr/>
          </p:nvSpPr>
          <p:spPr>
            <a:xfrm>
              <a:off x="0" y="-38100"/>
              <a:ext cx="1296571" cy="1146474"/>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3728188" y="687305"/>
            <a:ext cx="11910261" cy="1730229"/>
            <a:chOff x="0" y="0"/>
            <a:chExt cx="3136859" cy="455698"/>
          </a:xfrm>
        </p:grpSpPr>
        <p:sp>
          <p:nvSpPr>
            <p:cNvPr name="Freeform 9" id="9"/>
            <p:cNvSpPr/>
            <p:nvPr/>
          </p:nvSpPr>
          <p:spPr>
            <a:xfrm flipH="false" flipV="false" rot="0">
              <a:off x="0" y="0"/>
              <a:ext cx="3136859" cy="455698"/>
            </a:xfrm>
            <a:custGeom>
              <a:avLst/>
              <a:gdLst/>
              <a:ahLst/>
              <a:cxnLst/>
              <a:rect r="r" b="b" t="t" l="l"/>
              <a:pathLst>
                <a:path h="455698" w="3136859">
                  <a:moveTo>
                    <a:pt x="0" y="0"/>
                  </a:moveTo>
                  <a:lnTo>
                    <a:pt x="3136859" y="0"/>
                  </a:lnTo>
                  <a:lnTo>
                    <a:pt x="3136859" y="455698"/>
                  </a:lnTo>
                  <a:lnTo>
                    <a:pt x="0" y="455698"/>
                  </a:lnTo>
                  <a:close/>
                </a:path>
              </a:pathLst>
            </a:custGeom>
            <a:solidFill>
              <a:srgbClr val="DDDEDE"/>
            </a:solidFill>
            <a:ln w="38100" cap="sq">
              <a:solidFill>
                <a:srgbClr val="F1F2F2"/>
              </a:solidFill>
              <a:prstDash val="solid"/>
              <a:miter/>
            </a:ln>
          </p:spPr>
        </p:sp>
        <p:sp>
          <p:nvSpPr>
            <p:cNvPr name="TextBox 10" id="10"/>
            <p:cNvSpPr txBox="true"/>
            <p:nvPr/>
          </p:nvSpPr>
          <p:spPr>
            <a:xfrm>
              <a:off x="0" y="-38100"/>
              <a:ext cx="3136859" cy="493798"/>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576611" y="8801100"/>
            <a:ext cx="19974273" cy="1861295"/>
            <a:chOff x="0" y="0"/>
            <a:chExt cx="5260714" cy="490218"/>
          </a:xfrm>
        </p:grpSpPr>
        <p:sp>
          <p:nvSpPr>
            <p:cNvPr name="Freeform 12" id="12"/>
            <p:cNvSpPr/>
            <p:nvPr/>
          </p:nvSpPr>
          <p:spPr>
            <a:xfrm flipH="false" flipV="false" rot="0">
              <a:off x="0" y="0"/>
              <a:ext cx="5260714" cy="490218"/>
            </a:xfrm>
            <a:custGeom>
              <a:avLst/>
              <a:gdLst/>
              <a:ahLst/>
              <a:cxnLst/>
              <a:rect r="r" b="b" t="t" l="l"/>
              <a:pathLst>
                <a:path h="490218" w="5260714">
                  <a:moveTo>
                    <a:pt x="0" y="0"/>
                  </a:moveTo>
                  <a:lnTo>
                    <a:pt x="5260714" y="0"/>
                  </a:lnTo>
                  <a:lnTo>
                    <a:pt x="5260714" y="490218"/>
                  </a:lnTo>
                  <a:lnTo>
                    <a:pt x="0" y="490218"/>
                  </a:lnTo>
                  <a:close/>
                </a:path>
              </a:pathLst>
            </a:custGeom>
            <a:solidFill>
              <a:srgbClr val="F1F2F2"/>
            </a:solidFill>
          </p:spPr>
        </p:sp>
        <p:sp>
          <p:nvSpPr>
            <p:cNvPr name="TextBox 13" id="13"/>
            <p:cNvSpPr txBox="true"/>
            <p:nvPr/>
          </p:nvSpPr>
          <p:spPr>
            <a:xfrm>
              <a:off x="0" y="-38100"/>
              <a:ext cx="5260714" cy="528318"/>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4558294" y="904875"/>
            <a:ext cx="9704463" cy="1125781"/>
          </a:xfrm>
          <a:prstGeom prst="rect">
            <a:avLst/>
          </a:prstGeom>
        </p:spPr>
        <p:txBody>
          <a:bodyPr anchor="t" rtlCol="false" tIns="0" lIns="0" bIns="0" rIns="0">
            <a:spAutoFit/>
          </a:bodyPr>
          <a:lstStyle/>
          <a:p>
            <a:pPr algn="ctr">
              <a:lnSpc>
                <a:spcPts val="9250"/>
              </a:lnSpc>
            </a:pPr>
            <a:r>
              <a:rPr lang="en-US" sz="6607">
                <a:solidFill>
                  <a:srgbClr val="000000"/>
                </a:solidFill>
                <a:latin typeface="Fredoka"/>
                <a:ea typeface="Fredoka"/>
                <a:cs typeface="Fredoka"/>
                <a:sym typeface="Fredoka"/>
              </a:rPr>
              <a:t>CHALLENGES</a:t>
            </a:r>
          </a:p>
        </p:txBody>
      </p:sp>
      <p:sp>
        <p:nvSpPr>
          <p:cNvPr name="TextBox 15" id="15"/>
          <p:cNvSpPr txBox="true"/>
          <p:nvPr/>
        </p:nvSpPr>
        <p:spPr>
          <a:xfrm rot="0">
            <a:off x="1185339" y="4172647"/>
            <a:ext cx="4000005" cy="1099820"/>
          </a:xfrm>
          <a:prstGeom prst="rect">
            <a:avLst/>
          </a:prstGeom>
        </p:spPr>
        <p:txBody>
          <a:bodyPr anchor="t" rtlCol="false" tIns="0" lIns="0" bIns="0" rIns="0">
            <a:spAutoFit/>
          </a:bodyPr>
          <a:lstStyle/>
          <a:p>
            <a:pPr algn="ctr">
              <a:lnSpc>
                <a:spcPts val="4480"/>
              </a:lnSpc>
            </a:pPr>
            <a:r>
              <a:rPr lang="en-US" sz="3200">
                <a:solidFill>
                  <a:srgbClr val="000000"/>
                </a:solidFill>
                <a:latin typeface="Fredoka"/>
                <a:ea typeface="Fredoka"/>
                <a:cs typeface="Fredoka"/>
                <a:sym typeface="Fredoka"/>
              </a:rPr>
              <a:t>DATA SYNCHRONIZATION </a:t>
            </a:r>
          </a:p>
        </p:txBody>
      </p:sp>
      <p:sp>
        <p:nvSpPr>
          <p:cNvPr name="AutoShape 16" id="16"/>
          <p:cNvSpPr/>
          <p:nvPr/>
        </p:nvSpPr>
        <p:spPr>
          <a:xfrm rot="0">
            <a:off x="2932173" y="3260046"/>
            <a:ext cx="12423654" cy="0"/>
          </a:xfrm>
          <a:prstGeom prst="line">
            <a:avLst/>
          </a:prstGeom>
          <a:ln cap="flat" w="133350">
            <a:solidFill>
              <a:srgbClr val="DDDEDE"/>
            </a:solidFill>
            <a:prstDash val="solid"/>
            <a:headEnd type="none" len="sm" w="sm"/>
            <a:tailEnd type="none" len="sm" w="sm"/>
          </a:ln>
        </p:spPr>
      </p:sp>
      <p:grpSp>
        <p:nvGrpSpPr>
          <p:cNvPr name="Group 17" id="17"/>
          <p:cNvGrpSpPr/>
          <p:nvPr/>
        </p:nvGrpSpPr>
        <p:grpSpPr>
          <a:xfrm rot="0">
            <a:off x="2932173" y="3326721"/>
            <a:ext cx="480294" cy="655427"/>
            <a:chOff x="0" y="0"/>
            <a:chExt cx="126497" cy="172623"/>
          </a:xfrm>
        </p:grpSpPr>
        <p:sp>
          <p:nvSpPr>
            <p:cNvPr name="Freeform 18" id="18"/>
            <p:cNvSpPr/>
            <p:nvPr/>
          </p:nvSpPr>
          <p:spPr>
            <a:xfrm flipH="false" flipV="false" rot="0">
              <a:off x="0" y="0"/>
              <a:ext cx="126497" cy="172623"/>
            </a:xfrm>
            <a:custGeom>
              <a:avLst/>
              <a:gdLst/>
              <a:ahLst/>
              <a:cxnLst/>
              <a:rect r="r" b="b" t="t" l="l"/>
              <a:pathLst>
                <a:path h="172623" w="126497">
                  <a:moveTo>
                    <a:pt x="0" y="0"/>
                  </a:moveTo>
                  <a:lnTo>
                    <a:pt x="126497" y="0"/>
                  </a:lnTo>
                  <a:lnTo>
                    <a:pt x="126497" y="172623"/>
                  </a:lnTo>
                  <a:lnTo>
                    <a:pt x="0" y="172623"/>
                  </a:lnTo>
                  <a:close/>
                </a:path>
              </a:pathLst>
            </a:custGeom>
            <a:solidFill>
              <a:srgbClr val="DDDEDE"/>
            </a:solidFill>
          </p:spPr>
        </p:sp>
        <p:sp>
          <p:nvSpPr>
            <p:cNvPr name="TextBox 19" id="19"/>
            <p:cNvSpPr txBox="true"/>
            <p:nvPr/>
          </p:nvSpPr>
          <p:spPr>
            <a:xfrm>
              <a:off x="0" y="-38100"/>
              <a:ext cx="126497" cy="210723"/>
            </a:xfrm>
            <a:prstGeom prst="rect">
              <a:avLst/>
            </a:prstGeom>
          </p:spPr>
          <p:txBody>
            <a:bodyPr anchor="ctr" rtlCol="false" tIns="50800" lIns="50800" bIns="50800" rIns="50800"/>
            <a:lstStyle/>
            <a:p>
              <a:pPr algn="ctr">
                <a:lnSpc>
                  <a:spcPts val="2659"/>
                </a:lnSpc>
                <a:spcBef>
                  <a:spcPct val="0"/>
                </a:spcBef>
              </a:pPr>
            </a:p>
          </p:txBody>
        </p:sp>
      </p:grpSp>
      <p:grpSp>
        <p:nvGrpSpPr>
          <p:cNvPr name="Group 20" id="20"/>
          <p:cNvGrpSpPr/>
          <p:nvPr/>
        </p:nvGrpSpPr>
        <p:grpSpPr>
          <a:xfrm rot="0">
            <a:off x="8903853" y="3326721"/>
            <a:ext cx="480294" cy="655427"/>
            <a:chOff x="0" y="0"/>
            <a:chExt cx="126497" cy="172623"/>
          </a:xfrm>
        </p:grpSpPr>
        <p:sp>
          <p:nvSpPr>
            <p:cNvPr name="Freeform 21" id="21"/>
            <p:cNvSpPr/>
            <p:nvPr/>
          </p:nvSpPr>
          <p:spPr>
            <a:xfrm flipH="false" flipV="false" rot="0">
              <a:off x="0" y="0"/>
              <a:ext cx="126497" cy="172623"/>
            </a:xfrm>
            <a:custGeom>
              <a:avLst/>
              <a:gdLst/>
              <a:ahLst/>
              <a:cxnLst/>
              <a:rect r="r" b="b" t="t" l="l"/>
              <a:pathLst>
                <a:path h="172623" w="126497">
                  <a:moveTo>
                    <a:pt x="0" y="0"/>
                  </a:moveTo>
                  <a:lnTo>
                    <a:pt x="126497" y="0"/>
                  </a:lnTo>
                  <a:lnTo>
                    <a:pt x="126497" y="172623"/>
                  </a:lnTo>
                  <a:lnTo>
                    <a:pt x="0" y="172623"/>
                  </a:lnTo>
                  <a:close/>
                </a:path>
              </a:pathLst>
            </a:custGeom>
            <a:solidFill>
              <a:srgbClr val="DDDEDE"/>
            </a:solidFill>
          </p:spPr>
        </p:sp>
        <p:sp>
          <p:nvSpPr>
            <p:cNvPr name="TextBox 22" id="22"/>
            <p:cNvSpPr txBox="true"/>
            <p:nvPr/>
          </p:nvSpPr>
          <p:spPr>
            <a:xfrm>
              <a:off x="0" y="-38100"/>
              <a:ext cx="126497" cy="210723"/>
            </a:xfrm>
            <a:prstGeom prst="rect">
              <a:avLst/>
            </a:prstGeom>
          </p:spPr>
          <p:txBody>
            <a:bodyPr anchor="ctr" rtlCol="false" tIns="50800" lIns="50800" bIns="50800" rIns="50800"/>
            <a:lstStyle/>
            <a:p>
              <a:pPr algn="ctr">
                <a:lnSpc>
                  <a:spcPts val="2659"/>
                </a:lnSpc>
                <a:spcBef>
                  <a:spcPct val="0"/>
                </a:spcBef>
              </a:pPr>
            </a:p>
          </p:txBody>
        </p:sp>
      </p:grpSp>
      <p:grpSp>
        <p:nvGrpSpPr>
          <p:cNvPr name="Group 23" id="23"/>
          <p:cNvGrpSpPr/>
          <p:nvPr/>
        </p:nvGrpSpPr>
        <p:grpSpPr>
          <a:xfrm rot="0">
            <a:off x="14875533" y="3326721"/>
            <a:ext cx="480294" cy="655427"/>
            <a:chOff x="0" y="0"/>
            <a:chExt cx="126497" cy="172623"/>
          </a:xfrm>
        </p:grpSpPr>
        <p:sp>
          <p:nvSpPr>
            <p:cNvPr name="Freeform 24" id="24"/>
            <p:cNvSpPr/>
            <p:nvPr/>
          </p:nvSpPr>
          <p:spPr>
            <a:xfrm flipH="false" flipV="false" rot="0">
              <a:off x="0" y="0"/>
              <a:ext cx="126497" cy="172623"/>
            </a:xfrm>
            <a:custGeom>
              <a:avLst/>
              <a:gdLst/>
              <a:ahLst/>
              <a:cxnLst/>
              <a:rect r="r" b="b" t="t" l="l"/>
              <a:pathLst>
                <a:path h="172623" w="126497">
                  <a:moveTo>
                    <a:pt x="0" y="0"/>
                  </a:moveTo>
                  <a:lnTo>
                    <a:pt x="126497" y="0"/>
                  </a:lnTo>
                  <a:lnTo>
                    <a:pt x="126497" y="172623"/>
                  </a:lnTo>
                  <a:lnTo>
                    <a:pt x="0" y="172623"/>
                  </a:lnTo>
                  <a:close/>
                </a:path>
              </a:pathLst>
            </a:custGeom>
            <a:solidFill>
              <a:srgbClr val="DDDEDE"/>
            </a:solidFill>
          </p:spPr>
        </p:sp>
        <p:sp>
          <p:nvSpPr>
            <p:cNvPr name="TextBox 25" id="25"/>
            <p:cNvSpPr txBox="true"/>
            <p:nvPr/>
          </p:nvSpPr>
          <p:spPr>
            <a:xfrm>
              <a:off x="0" y="-38100"/>
              <a:ext cx="126497" cy="210723"/>
            </a:xfrm>
            <a:prstGeom prst="rect">
              <a:avLst/>
            </a:prstGeom>
          </p:spPr>
          <p:txBody>
            <a:bodyPr anchor="ctr" rtlCol="false" tIns="50800" lIns="50800" bIns="50800" rIns="50800"/>
            <a:lstStyle/>
            <a:p>
              <a:pPr algn="ctr">
                <a:lnSpc>
                  <a:spcPts val="2659"/>
                </a:lnSpc>
                <a:spcBef>
                  <a:spcPct val="0"/>
                </a:spcBef>
              </a:pPr>
            </a:p>
          </p:txBody>
        </p:sp>
      </p:grpSp>
      <p:grpSp>
        <p:nvGrpSpPr>
          <p:cNvPr name="Group 26" id="26"/>
          <p:cNvGrpSpPr/>
          <p:nvPr/>
        </p:nvGrpSpPr>
        <p:grpSpPr>
          <a:xfrm rot="0">
            <a:off x="6409088" y="3982147"/>
            <a:ext cx="5209393" cy="4208359"/>
            <a:chOff x="0" y="0"/>
            <a:chExt cx="1372021" cy="1108374"/>
          </a:xfrm>
        </p:grpSpPr>
        <p:sp>
          <p:nvSpPr>
            <p:cNvPr name="Freeform 27" id="27"/>
            <p:cNvSpPr/>
            <p:nvPr/>
          </p:nvSpPr>
          <p:spPr>
            <a:xfrm flipH="false" flipV="false" rot="0">
              <a:off x="0" y="0"/>
              <a:ext cx="1372021" cy="1108374"/>
            </a:xfrm>
            <a:custGeom>
              <a:avLst/>
              <a:gdLst/>
              <a:ahLst/>
              <a:cxnLst/>
              <a:rect r="r" b="b" t="t" l="l"/>
              <a:pathLst>
                <a:path h="1108374" w="1372021">
                  <a:moveTo>
                    <a:pt x="0" y="0"/>
                  </a:moveTo>
                  <a:lnTo>
                    <a:pt x="1372021" y="0"/>
                  </a:lnTo>
                  <a:lnTo>
                    <a:pt x="1372021" y="1108374"/>
                  </a:lnTo>
                  <a:lnTo>
                    <a:pt x="0" y="1108374"/>
                  </a:lnTo>
                  <a:close/>
                </a:path>
              </a:pathLst>
            </a:custGeom>
            <a:solidFill>
              <a:srgbClr val="F1F2F2"/>
            </a:solidFill>
          </p:spPr>
        </p:sp>
        <p:sp>
          <p:nvSpPr>
            <p:cNvPr name="TextBox 28" id="28"/>
            <p:cNvSpPr txBox="true"/>
            <p:nvPr/>
          </p:nvSpPr>
          <p:spPr>
            <a:xfrm>
              <a:off x="0" y="-38100"/>
              <a:ext cx="1372021" cy="1146474"/>
            </a:xfrm>
            <a:prstGeom prst="rect">
              <a:avLst/>
            </a:prstGeom>
          </p:spPr>
          <p:txBody>
            <a:bodyPr anchor="ctr" rtlCol="false" tIns="50800" lIns="50800" bIns="50800" rIns="50800"/>
            <a:lstStyle/>
            <a:p>
              <a:pPr algn="ctr">
                <a:lnSpc>
                  <a:spcPts val="2659"/>
                </a:lnSpc>
                <a:spcBef>
                  <a:spcPct val="0"/>
                </a:spcBef>
              </a:pPr>
            </a:p>
          </p:txBody>
        </p:sp>
      </p:grpSp>
      <p:grpSp>
        <p:nvGrpSpPr>
          <p:cNvPr name="Group 29" id="29"/>
          <p:cNvGrpSpPr/>
          <p:nvPr/>
        </p:nvGrpSpPr>
        <p:grpSpPr>
          <a:xfrm rot="0">
            <a:off x="12615156" y="3982147"/>
            <a:ext cx="4644144" cy="4208359"/>
            <a:chOff x="0" y="0"/>
            <a:chExt cx="1223149" cy="1108374"/>
          </a:xfrm>
        </p:grpSpPr>
        <p:sp>
          <p:nvSpPr>
            <p:cNvPr name="Freeform 30" id="30"/>
            <p:cNvSpPr/>
            <p:nvPr/>
          </p:nvSpPr>
          <p:spPr>
            <a:xfrm flipH="false" flipV="false" rot="0">
              <a:off x="0" y="0"/>
              <a:ext cx="1223149" cy="1108374"/>
            </a:xfrm>
            <a:custGeom>
              <a:avLst/>
              <a:gdLst/>
              <a:ahLst/>
              <a:cxnLst/>
              <a:rect r="r" b="b" t="t" l="l"/>
              <a:pathLst>
                <a:path h="1108374" w="1223149">
                  <a:moveTo>
                    <a:pt x="0" y="0"/>
                  </a:moveTo>
                  <a:lnTo>
                    <a:pt x="1223149" y="0"/>
                  </a:lnTo>
                  <a:lnTo>
                    <a:pt x="1223149" y="1108374"/>
                  </a:lnTo>
                  <a:lnTo>
                    <a:pt x="0" y="1108374"/>
                  </a:lnTo>
                  <a:close/>
                </a:path>
              </a:pathLst>
            </a:custGeom>
            <a:solidFill>
              <a:srgbClr val="F1F2F2"/>
            </a:solidFill>
          </p:spPr>
        </p:sp>
        <p:sp>
          <p:nvSpPr>
            <p:cNvPr name="TextBox 31" id="31"/>
            <p:cNvSpPr txBox="true"/>
            <p:nvPr/>
          </p:nvSpPr>
          <p:spPr>
            <a:xfrm>
              <a:off x="0" y="-38100"/>
              <a:ext cx="1223149" cy="1146474"/>
            </a:xfrm>
            <a:prstGeom prst="rect">
              <a:avLst/>
            </a:prstGeom>
          </p:spPr>
          <p:txBody>
            <a:bodyPr anchor="ctr" rtlCol="false" tIns="50800" lIns="50800" bIns="50800" rIns="50800"/>
            <a:lstStyle/>
            <a:p>
              <a:pPr algn="ctr">
                <a:lnSpc>
                  <a:spcPts val="2659"/>
                </a:lnSpc>
                <a:spcBef>
                  <a:spcPct val="0"/>
                </a:spcBef>
              </a:pPr>
            </a:p>
          </p:txBody>
        </p:sp>
      </p:grpSp>
      <p:sp>
        <p:nvSpPr>
          <p:cNvPr name="TextBox 32" id="32"/>
          <p:cNvSpPr txBox="true"/>
          <p:nvPr/>
        </p:nvSpPr>
        <p:spPr>
          <a:xfrm rot="0">
            <a:off x="1290970" y="5472492"/>
            <a:ext cx="3788744" cy="2267585"/>
          </a:xfrm>
          <a:prstGeom prst="rect">
            <a:avLst/>
          </a:prstGeom>
        </p:spPr>
        <p:txBody>
          <a:bodyPr anchor="t" rtlCol="false" tIns="0" lIns="0" bIns="0" rIns="0">
            <a:spAutoFit/>
          </a:bodyPr>
          <a:lstStyle/>
          <a:p>
            <a:pPr algn="ctr">
              <a:lnSpc>
                <a:spcPts val="3640"/>
              </a:lnSpc>
            </a:pPr>
            <a:r>
              <a:rPr lang="en-US" sz="2600">
                <a:solidFill>
                  <a:srgbClr val="000000"/>
                </a:solidFill>
                <a:latin typeface="Nunito"/>
                <a:ea typeface="Nunito"/>
                <a:cs typeface="Nunito"/>
                <a:sym typeface="Nunito"/>
              </a:rPr>
              <a:t>When multiple team members are working simultaneously on the same dataset, it can lead to synchronization issues. </a:t>
            </a:r>
          </a:p>
        </p:txBody>
      </p:sp>
      <p:sp>
        <p:nvSpPr>
          <p:cNvPr name="TextBox 33" id="33"/>
          <p:cNvSpPr txBox="true"/>
          <p:nvPr/>
        </p:nvSpPr>
        <p:spPr>
          <a:xfrm rot="0">
            <a:off x="6832937" y="5386922"/>
            <a:ext cx="4622126" cy="2724785"/>
          </a:xfrm>
          <a:prstGeom prst="rect">
            <a:avLst/>
          </a:prstGeom>
        </p:spPr>
        <p:txBody>
          <a:bodyPr anchor="t" rtlCol="false" tIns="0" lIns="0" bIns="0" rIns="0">
            <a:spAutoFit/>
          </a:bodyPr>
          <a:lstStyle/>
          <a:p>
            <a:pPr algn="ctr">
              <a:lnSpc>
                <a:spcPts val="3640"/>
              </a:lnSpc>
            </a:pPr>
            <a:r>
              <a:rPr lang="en-US" sz="2600">
                <a:solidFill>
                  <a:srgbClr val="000000"/>
                </a:solidFill>
                <a:latin typeface="Nunito"/>
                <a:ea typeface="Nunito"/>
                <a:cs typeface="Nunito"/>
                <a:sym typeface="Nunito"/>
              </a:rPr>
              <a:t>Getting acquainted with the features, functionalities, and best practices of new tools like Google Colab and Firebase can be time-consuming and confusing</a:t>
            </a:r>
          </a:p>
        </p:txBody>
      </p:sp>
      <p:sp>
        <p:nvSpPr>
          <p:cNvPr name="TextBox 34" id="34"/>
          <p:cNvSpPr txBox="true"/>
          <p:nvPr/>
        </p:nvSpPr>
        <p:spPr>
          <a:xfrm rot="0">
            <a:off x="12921442" y="5386922"/>
            <a:ext cx="4194241" cy="2267585"/>
          </a:xfrm>
          <a:prstGeom prst="rect">
            <a:avLst/>
          </a:prstGeom>
        </p:spPr>
        <p:txBody>
          <a:bodyPr anchor="t" rtlCol="false" tIns="0" lIns="0" bIns="0" rIns="0">
            <a:spAutoFit/>
          </a:bodyPr>
          <a:lstStyle/>
          <a:p>
            <a:pPr algn="ctr">
              <a:lnSpc>
                <a:spcPts val="3640"/>
              </a:lnSpc>
            </a:pPr>
            <a:r>
              <a:rPr lang="en-US" sz="2600">
                <a:solidFill>
                  <a:srgbClr val="000000"/>
                </a:solidFill>
                <a:latin typeface="Nunito"/>
                <a:ea typeface="Nunito"/>
                <a:cs typeface="Nunito"/>
                <a:sym typeface="Nunito"/>
              </a:rPr>
              <a:t>We have encountred some diffculties when trying to debug our code in Google Collab, Especialy, when intergiating FireBase</a:t>
            </a:r>
          </a:p>
        </p:txBody>
      </p:sp>
      <p:sp>
        <p:nvSpPr>
          <p:cNvPr name="Freeform 35" id="35"/>
          <p:cNvSpPr/>
          <p:nvPr/>
        </p:nvSpPr>
        <p:spPr>
          <a:xfrm flipH="false" flipV="false" rot="0">
            <a:off x="17119441" y="559518"/>
            <a:ext cx="2942276" cy="2942276"/>
          </a:xfrm>
          <a:custGeom>
            <a:avLst/>
            <a:gdLst/>
            <a:ahLst/>
            <a:cxnLst/>
            <a:rect r="r" b="b" t="t" l="l"/>
            <a:pathLst>
              <a:path h="2942276" w="2942276">
                <a:moveTo>
                  <a:pt x="0" y="0"/>
                </a:moveTo>
                <a:lnTo>
                  <a:pt x="2942276" y="0"/>
                </a:lnTo>
                <a:lnTo>
                  <a:pt x="2942276" y="2942277"/>
                </a:lnTo>
                <a:lnTo>
                  <a:pt x="0" y="29422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36" id="36"/>
          <p:cNvSpPr/>
          <p:nvPr/>
        </p:nvSpPr>
        <p:spPr>
          <a:xfrm flipH="true" flipV="false" rot="0">
            <a:off x="-1183252" y="2277294"/>
            <a:ext cx="3395204" cy="1049427"/>
          </a:xfrm>
          <a:custGeom>
            <a:avLst/>
            <a:gdLst/>
            <a:ahLst/>
            <a:cxnLst/>
            <a:rect r="r" b="b" t="t" l="l"/>
            <a:pathLst>
              <a:path h="1049427" w="3395204">
                <a:moveTo>
                  <a:pt x="3395204" y="0"/>
                </a:moveTo>
                <a:lnTo>
                  <a:pt x="0" y="0"/>
                </a:lnTo>
                <a:lnTo>
                  <a:pt x="0" y="1049427"/>
                </a:lnTo>
                <a:lnTo>
                  <a:pt x="3395204" y="1049427"/>
                </a:lnTo>
                <a:lnTo>
                  <a:pt x="3395204"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37" id="37"/>
          <p:cNvSpPr txBox="true"/>
          <p:nvPr/>
        </p:nvSpPr>
        <p:spPr>
          <a:xfrm rot="0">
            <a:off x="7013782" y="4129863"/>
            <a:ext cx="4000005" cy="1099820"/>
          </a:xfrm>
          <a:prstGeom prst="rect">
            <a:avLst/>
          </a:prstGeom>
        </p:spPr>
        <p:txBody>
          <a:bodyPr anchor="t" rtlCol="false" tIns="0" lIns="0" bIns="0" rIns="0">
            <a:spAutoFit/>
          </a:bodyPr>
          <a:lstStyle/>
          <a:p>
            <a:pPr algn="ctr">
              <a:lnSpc>
                <a:spcPts val="4480"/>
              </a:lnSpc>
            </a:pPr>
            <a:r>
              <a:rPr lang="en-US" sz="3200">
                <a:solidFill>
                  <a:srgbClr val="000000"/>
                </a:solidFill>
                <a:latin typeface="Fredoka"/>
                <a:ea typeface="Fredoka"/>
                <a:cs typeface="Fredoka"/>
                <a:sym typeface="Fredoka"/>
              </a:rPr>
              <a:t>LEARNING CURVE AND INITIAL SETUP</a:t>
            </a:r>
          </a:p>
        </p:txBody>
      </p:sp>
      <p:sp>
        <p:nvSpPr>
          <p:cNvPr name="TextBox 38" id="38"/>
          <p:cNvSpPr txBox="true"/>
          <p:nvPr/>
        </p:nvSpPr>
        <p:spPr>
          <a:xfrm rot="0">
            <a:off x="12951981" y="4132007"/>
            <a:ext cx="4000005" cy="2223770"/>
          </a:xfrm>
          <a:prstGeom prst="rect">
            <a:avLst/>
          </a:prstGeom>
        </p:spPr>
        <p:txBody>
          <a:bodyPr anchor="t" rtlCol="false" tIns="0" lIns="0" bIns="0" rIns="0">
            <a:spAutoFit/>
          </a:bodyPr>
          <a:lstStyle/>
          <a:p>
            <a:pPr algn="ctr">
              <a:lnSpc>
                <a:spcPts val="4480"/>
              </a:lnSpc>
            </a:pPr>
            <a:r>
              <a:rPr lang="en-US" sz="3200">
                <a:solidFill>
                  <a:srgbClr val="000000"/>
                </a:solidFill>
                <a:latin typeface="Fredoka"/>
                <a:ea typeface="Fredoka"/>
                <a:cs typeface="Fredoka"/>
                <a:sym typeface="Fredoka"/>
              </a:rPr>
              <a:t>INTEGRATION AND DEBUGGING</a:t>
            </a:r>
          </a:p>
          <a:p>
            <a:pPr algn="ctr">
              <a:lnSpc>
                <a:spcPts val="4480"/>
              </a:lnSpc>
            </a:pPr>
          </a:p>
          <a:p>
            <a:pPr algn="ctr">
              <a:lnSpc>
                <a:spcPts val="4480"/>
              </a:lnSpc>
            </a:pP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09662" y="0"/>
            <a:ext cx="20507325" cy="10287000"/>
            <a:chOff x="0" y="0"/>
            <a:chExt cx="27343100" cy="13716000"/>
          </a:xfrm>
        </p:grpSpPr>
        <p:sp>
          <p:nvSpPr>
            <p:cNvPr name="Freeform 3" id="3"/>
            <p:cNvSpPr/>
            <p:nvPr/>
          </p:nvSpPr>
          <p:spPr>
            <a:xfrm flipH="false" flipV="false" rot="0">
              <a:off x="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62710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576611" y="8353252"/>
            <a:ext cx="19974273" cy="1420979"/>
            <a:chOff x="0" y="0"/>
            <a:chExt cx="5260714" cy="374250"/>
          </a:xfrm>
        </p:grpSpPr>
        <p:sp>
          <p:nvSpPr>
            <p:cNvPr name="Freeform 6" id="6"/>
            <p:cNvSpPr/>
            <p:nvPr/>
          </p:nvSpPr>
          <p:spPr>
            <a:xfrm flipH="false" flipV="false" rot="0">
              <a:off x="0" y="0"/>
              <a:ext cx="5260714" cy="374250"/>
            </a:xfrm>
            <a:custGeom>
              <a:avLst/>
              <a:gdLst/>
              <a:ahLst/>
              <a:cxnLst/>
              <a:rect r="r" b="b" t="t" l="l"/>
              <a:pathLst>
                <a:path h="374250" w="5260714">
                  <a:moveTo>
                    <a:pt x="0" y="0"/>
                  </a:moveTo>
                  <a:lnTo>
                    <a:pt x="5260714" y="0"/>
                  </a:lnTo>
                  <a:lnTo>
                    <a:pt x="5260714" y="374250"/>
                  </a:lnTo>
                  <a:lnTo>
                    <a:pt x="0" y="374250"/>
                  </a:lnTo>
                  <a:close/>
                </a:path>
              </a:pathLst>
            </a:custGeom>
            <a:solidFill>
              <a:srgbClr val="F1F2F2"/>
            </a:solidFill>
          </p:spPr>
        </p:sp>
        <p:sp>
          <p:nvSpPr>
            <p:cNvPr name="TextBox 7" id="7"/>
            <p:cNvSpPr txBox="true"/>
            <p:nvPr/>
          </p:nvSpPr>
          <p:spPr>
            <a:xfrm>
              <a:off x="0" y="-38100"/>
              <a:ext cx="5260714" cy="41235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2076251" y="1662606"/>
            <a:ext cx="2942276" cy="2942276"/>
          </a:xfrm>
          <a:custGeom>
            <a:avLst/>
            <a:gdLst/>
            <a:ahLst/>
            <a:cxnLst/>
            <a:rect r="r" b="b" t="t" l="l"/>
            <a:pathLst>
              <a:path h="2942276" w="2942276">
                <a:moveTo>
                  <a:pt x="0" y="0"/>
                </a:moveTo>
                <a:lnTo>
                  <a:pt x="2942276" y="0"/>
                </a:lnTo>
                <a:lnTo>
                  <a:pt x="2942276" y="2942276"/>
                </a:lnTo>
                <a:lnTo>
                  <a:pt x="0" y="29422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true" flipV="false" rot="0">
            <a:off x="2120044" y="6010601"/>
            <a:ext cx="3395204" cy="1049427"/>
          </a:xfrm>
          <a:custGeom>
            <a:avLst/>
            <a:gdLst/>
            <a:ahLst/>
            <a:cxnLst/>
            <a:rect r="r" b="b" t="t" l="l"/>
            <a:pathLst>
              <a:path h="1049427" w="3395204">
                <a:moveTo>
                  <a:pt x="3395205" y="0"/>
                </a:moveTo>
                <a:lnTo>
                  <a:pt x="0" y="0"/>
                </a:lnTo>
                <a:lnTo>
                  <a:pt x="0" y="1049427"/>
                </a:lnTo>
                <a:lnTo>
                  <a:pt x="3395205" y="1049427"/>
                </a:lnTo>
                <a:lnTo>
                  <a:pt x="339520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0" id="10"/>
          <p:cNvSpPr txBox="true"/>
          <p:nvPr/>
        </p:nvSpPr>
        <p:spPr>
          <a:xfrm rot="0">
            <a:off x="3269473" y="2924194"/>
            <a:ext cx="11749054" cy="1793183"/>
          </a:xfrm>
          <a:prstGeom prst="rect">
            <a:avLst/>
          </a:prstGeom>
        </p:spPr>
        <p:txBody>
          <a:bodyPr anchor="t" rtlCol="false" tIns="0" lIns="0" bIns="0" rIns="0">
            <a:spAutoFit/>
          </a:bodyPr>
          <a:lstStyle/>
          <a:p>
            <a:pPr algn="ctr">
              <a:lnSpc>
                <a:spcPts val="14620"/>
              </a:lnSpc>
            </a:pPr>
            <a:r>
              <a:rPr lang="en-US" sz="10443">
                <a:solidFill>
                  <a:srgbClr val="000000"/>
                </a:solidFill>
                <a:latin typeface="Fredoka"/>
                <a:ea typeface="Fredoka"/>
                <a:cs typeface="Fredoka"/>
                <a:sym typeface="Fredoka"/>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DAGNEqDA6CY</dc:identifier>
  <dcterms:modified xsi:type="dcterms:W3CDTF">2011-08-01T06:04:30Z</dcterms:modified>
  <cp:revision>1</cp:revision>
  <dc:title>Thesis Defense</dc:title>
</cp:coreProperties>
</file>